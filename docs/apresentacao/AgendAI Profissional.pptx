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  <a:srgbClr val="404040"/>
    <a:srgbClr val="4E94FE"/>
    <a:srgbClr val="448BB6"/>
    <a:srgbClr val="90BDFE"/>
    <a:srgbClr val="6EA8FE"/>
    <a:srgbClr val="BBE3FF"/>
    <a:srgbClr val="4799FF"/>
    <a:srgbClr val="FF7575"/>
    <a:srgbClr val="65A0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86" autoAdjust="0"/>
  </p:normalViewPr>
  <p:slideViewPr>
    <p:cSldViewPr snapToGrid="0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  <a:p>
            <a:r>
              <a:t>Visão do produto completo e do papel do novo canal mobile.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  <a:p>
            <a:r>
              <a:t>Similares mencionados no relatório: iClinic e Doctoralia.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  <a:p>
            <a:r>
              <a:t>Protótipo: https://www.figma.com/proto/3qnRyQzajwSLsqfhsBw8Vw/Agend.AI?node-id=186-2&amp;p=f&amp;t=awTqjzmfFU1NCiEr-0&amp;scaling=min-zoom&amp;content-scaling=fixed&amp;page-id=186%3A2&amp;starting-point-node-id=287%3A3&amp;fuid=1420835276451832770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  <a:p>
            <a:r>
              <a:t>Estado técnico conferido no schema e no AGENTS.md do repositório.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 principal: C:/Users/markn/mdsl1/Projetos Pessoais/Agend.AI/Projeto Mobile (Querino)/Relatório - Projeto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Fonte principal: C:/Users/markn/mdsl1/Projetos </a:t>
            </a:r>
            <a:r>
              <a:rPr dirty="0" err="1"/>
              <a:t>Pessoais</a:t>
            </a:r>
            <a:r>
              <a:rPr dirty="0"/>
              <a:t>/Agend.AI/</a:t>
            </a:r>
            <a:r>
              <a:rPr dirty="0" err="1"/>
              <a:t>Projeto</a:t>
            </a:r>
            <a:r>
              <a:rPr dirty="0"/>
              <a:t> Mobile (</a:t>
            </a:r>
            <a:r>
              <a:rPr dirty="0" err="1"/>
              <a:t>Querino</a:t>
            </a:r>
            <a:r>
              <a:rPr dirty="0"/>
              <a:t>)/</a:t>
            </a:r>
            <a:r>
              <a:rPr dirty="0" err="1"/>
              <a:t>Relatório</a:t>
            </a:r>
            <a:r>
              <a:rPr dirty="0"/>
              <a:t> - </a:t>
            </a:r>
            <a:r>
              <a:rPr dirty="0" err="1"/>
              <a:t>Projeto</a:t>
            </a:r>
            <a:r>
              <a:rPr dirty="0"/>
              <a:t> de Laboratório.md.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igma.com/proto/3qnRyQzajwSLsqfhsBw8Vw/Agend.AI?node-id=186-2&amp;p=f&amp;t=awTqjzmfFU1NCiEr-0&amp;scaling=min-zoom&amp;content-scaling=fixed&amp;page-id=186%3A2&amp;starting-point-node-id=287%3A3&amp;fuid=1420835276451832770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5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68531F3F-7EAE-4E1D-96EC-9E48C2319DC5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533400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550" b="1">
                <a:solidFill>
                  <a:srgbClr val="80DCE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0DCE6"/>
                </a:solidFill>
                <a:latin typeface="Arial"/>
                <a:ea typeface="Arial"/>
                <a:cs typeface="Arial"/>
              </a:rPr>
              <a:t>Agend.AI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4C8498A-D49A-44B0-8F3E-1711F504D013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8858250" cy="9906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5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Profissional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C836DC7-17B5-4D85-8A39-132B0205F6A7}"/>
              </a:ext>
            </a:extLst>
          </p:cNvPr>
          <p:cNvSpPr>
            <a:spLocks noGrp="1"/>
          </p:cNvSpPr>
          <p:nvPr/>
        </p:nvSpPr>
        <p:spPr>
          <a:xfrm>
            <a:off x="723900" y="2647950"/>
            <a:ext cx="7810500" cy="7810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250" b="0">
                <a:solidFill>
                  <a:srgbClr val="D8EFF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8EFF2"/>
                </a:solidFill>
                <a:latin typeface="Arial"/>
                <a:ea typeface="Arial"/>
                <a:cs typeface="Arial"/>
              </a:rPr>
              <a:t>Aplicativo mobile de autogestão para profissionais de clínicas</a:t>
            </a:r>
          </a:p>
        </p:txBody>
      </p:sp>
      <p:sp>
        <p:nvSpPr>
          <p:cNvPr id="4" name="Conector reto 3">
            <a:extLst>
              <a:ext uri="{FF2B5EF4-FFF2-40B4-BE49-F238E27FC236}">
                <a16:creationId xmlns:a16="http://schemas.microsoft.com/office/drawing/2014/main" id="{468A2A5C-8723-45E5-9658-ED33E695F61E}"/>
              </a:ext>
            </a:extLst>
          </p:cNvPr>
          <p:cNvSpPr>
            <a:spLocks noGrp="1"/>
          </p:cNvSpPr>
          <p:nvPr/>
        </p:nvSpPr>
        <p:spPr>
          <a:xfrm>
            <a:off x="723900" y="3790950"/>
            <a:ext cx="4895850" cy="0"/>
          </a:xfrm>
          <a:prstGeom prst="line">
            <a:avLst/>
          </a:prstGeom>
          <a:noFill/>
          <a:ln w="38100">
            <a:solidFill>
              <a:srgbClr val="55BDCA"/>
            </a:solidFill>
            <a:prstDash val="solid"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8F7C738-0C6F-4C3E-8D9D-D0F9232C40F0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pt-BR"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Marcos Daniel da Silva Lima</a:t>
            </a:r>
            <a:endParaRPr sz="18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37317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DD24FAFC-AB58-44C4-8239-EF3562D141E7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Visão Geral</a:t>
            </a: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do </a:t>
            </a:r>
            <a:r>
              <a:rPr lang="pt-BR"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Projeto</a:t>
            </a:r>
            <a:endParaRPr sz="30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4590A0B-B83C-49E5-B07E-831C5E76A9D9}"/>
              </a:ext>
            </a:extLst>
          </p:cNvPr>
          <p:cNvSpPr>
            <a:spLocks noGrp="1"/>
          </p:cNvSpPr>
          <p:nvPr/>
        </p:nvSpPr>
        <p:spPr>
          <a:xfrm>
            <a:off x="647700" y="1447800"/>
            <a:ext cx="295275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875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O problema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410AB97-7EB8-451F-9D8B-7B0B0D37DA1F}"/>
              </a:ext>
            </a:extLst>
          </p:cNvPr>
          <p:cNvSpPr>
            <a:spLocks noGrp="1"/>
          </p:cNvSpPr>
          <p:nvPr/>
        </p:nvSpPr>
        <p:spPr>
          <a:xfrm>
            <a:off x="647700" y="1895475"/>
            <a:ext cx="3429000" cy="1381125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725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Agenda, indisponibilidades, serviços e estimativas financeiras ficam distribuídos entre recepção, calendários e sistemas administrativos.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1D2B6E5-8370-4F86-A3F4-23A181E8F468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3429000" cy="1000125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65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 resultado é dependência de terceiros para tarefas simples e pouca visibilidade da própria rotina.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F582B2D4-72AC-41D1-A281-769636918F24}"/>
              </a:ext>
            </a:extLst>
          </p:cNvPr>
          <p:cNvSpPr>
            <a:spLocks noGrp="1"/>
          </p:cNvSpPr>
          <p:nvPr/>
        </p:nvSpPr>
        <p:spPr>
          <a:xfrm>
            <a:off x="4476750" y="1447800"/>
            <a:ext cx="0" cy="4572000"/>
          </a:xfrm>
          <a:prstGeom prst="line">
            <a:avLst/>
          </a:prstGeom>
          <a:noFill/>
          <a:ln w="19050">
            <a:solidFill>
              <a:srgbClr val="D9E2E7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858652A-43DC-4447-9161-E4E421D5DC60}"/>
              </a:ext>
            </a:extLst>
          </p:cNvPr>
          <p:cNvSpPr>
            <a:spLocks noGrp="1"/>
          </p:cNvSpPr>
          <p:nvPr/>
        </p:nvSpPr>
        <p:spPr>
          <a:xfrm>
            <a:off x="4953000" y="144780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875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A proposta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AD676F8-2A23-4AAE-BB75-F98A37591182}"/>
              </a:ext>
            </a:extLst>
          </p:cNvPr>
          <p:cNvSpPr>
            <a:spLocks noGrp="1"/>
          </p:cNvSpPr>
          <p:nvPr/>
        </p:nvSpPr>
        <p:spPr>
          <a:xfrm>
            <a:off x="4953000" y="1895475"/>
            <a:ext cx="6286500" cy="7810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0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Uma interface mobile individual e segura para o profissional, integrada ao ecossistema da clínica.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EBE7807-6B53-473B-8765-93B066D62EE9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6429375" cy="29527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10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Consultar agenda e detalhes dos atendimentos</a:t>
            </a:r>
          </a:p>
          <a:p>
            <a:pPr marL="203200" indent="-101600">
              <a:spcAft>
                <a:spcPts val="10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Bloquear e liberar períodos pontuais</a:t>
            </a:r>
          </a:p>
          <a:p>
            <a:pPr marL="203200" indent="-101600">
              <a:spcAft>
                <a:spcPts val="10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Acompanhar receitas realizadas e previstas</a:t>
            </a:r>
          </a:p>
          <a:p>
            <a:pPr marL="203200" indent="-101600">
              <a:spcAft>
                <a:spcPts val="10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Selecionar procedimentos do catálogo e ajustar seus valores</a:t>
            </a:r>
          </a:p>
          <a:p>
            <a:pPr marL="203200" indent="-101600">
              <a:spcAft>
                <a:spcPts val="10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Validar a integração completa entre app, API, dados e agenda externa</a:t>
            </a:r>
          </a:p>
        </p:txBody>
      </p:sp>
    </p:spTree>
    <p:extLst>
      <p:ext uri="{BB962C8B-B14F-4D97-AF65-F5344CB8AC3E}">
        <p14:creationId xmlns:p14="http://schemas.microsoft.com/office/powerpoint/2010/main" val="98915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C4884439-5248-4CE1-99C7-9247359279B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 ecossistema Agend.AI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87E6F44-6616-4334-AC6D-AA55F59B3859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2571750" cy="838200"/>
          </a:xfrm>
          <a:prstGeom prst="roundRect">
            <a:avLst>
              <a:gd name="adj" fmla="val 13636"/>
            </a:avLst>
          </a:prstGeom>
          <a:solidFill>
            <a:srgbClr val="F1FAFB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 lnSpcReduction="10000"/>
          </a:bodyPr>
          <a:lstStyle/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150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  </a:t>
            </a:r>
          </a:p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50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00" dirty="0" err="1">
                <a:solidFill>
                  <a:srgbClr val="404040"/>
                </a:solidFill>
                <a:latin typeface="Arial"/>
                <a:ea typeface="Arial"/>
                <a:cs typeface="Arial"/>
              </a:rPr>
              <a:t>Administraçã</a:t>
            </a:r>
            <a:r>
              <a:rPr lang="pt-BR" sz="150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o</a:t>
            </a:r>
            <a:r>
              <a:rPr sz="1500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 e agenda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75100FB-9D0E-4FD7-8B0C-42B0E6658977}"/>
              </a:ext>
            </a:extLst>
          </p:cNvPr>
          <p:cNvSpPr>
            <a:spLocks noGrp="1"/>
          </p:cNvSpPr>
          <p:nvPr/>
        </p:nvSpPr>
        <p:spPr>
          <a:xfrm>
            <a:off x="4810125" y="1476375"/>
            <a:ext cx="2571750" cy="838200"/>
          </a:xfrm>
          <a:prstGeom prst="roundRect">
            <a:avLst>
              <a:gd name="adj" fmla="val 13636"/>
            </a:avLst>
          </a:prstGeom>
          <a:solidFill>
            <a:srgbClr val="F1FAFB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 lnSpcReduction="10000"/>
          </a:bodyPr>
          <a:lstStyle/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lang="pt-BR" sz="15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5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404040"/>
                </a:solidFill>
                <a:latin typeface="Arial"/>
                <a:ea typeface="Arial"/>
                <a:cs typeface="Arial"/>
              </a:rPr>
              <a:t>Agendamento</a:t>
            </a:r>
            <a:r>
              <a:rPr sz="1500" b="1" dirty="0">
                <a:solidFill>
                  <a:srgbClr val="404040"/>
                </a:solidFill>
                <a:latin typeface="Arial"/>
                <a:ea typeface="Arial"/>
                <a:cs typeface="Arial"/>
              </a:rPr>
              <a:t> do </a:t>
            </a:r>
            <a:r>
              <a:rPr sz="1500" b="1" dirty="0" err="1">
                <a:solidFill>
                  <a:srgbClr val="404040"/>
                </a:solidFill>
                <a:latin typeface="Arial"/>
                <a:ea typeface="Arial"/>
                <a:cs typeface="Arial"/>
              </a:rPr>
              <a:t>cliente</a:t>
            </a:r>
            <a:endParaRPr sz="1500" b="1" dirty="0">
              <a:solidFill>
                <a:srgbClr val="4040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AA461D5-2A14-4265-97C5-060B03896CA6}"/>
              </a:ext>
            </a:extLst>
          </p:cNvPr>
          <p:cNvSpPr>
            <a:spLocks noGrp="1"/>
          </p:cNvSpPr>
          <p:nvPr/>
        </p:nvSpPr>
        <p:spPr>
          <a:xfrm>
            <a:off x="8548096" y="1476375"/>
            <a:ext cx="2977154" cy="838200"/>
          </a:xfrm>
          <a:prstGeom prst="roundRect">
            <a:avLst>
              <a:gd name="adj" fmla="val 13636"/>
            </a:avLst>
          </a:prstGeom>
          <a:solidFill>
            <a:srgbClr val="006578"/>
          </a:solidFill>
          <a:ln w="14288">
            <a:solidFill>
              <a:srgbClr val="006578"/>
            </a:solidFill>
            <a:prstDash val="solid"/>
          </a:ln>
        </p:spPr>
        <p:txBody>
          <a:bodyPr wrap="square" anchor="ctr">
            <a:normAutofit lnSpcReduction="10000"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pt-BR"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 lang="pt-BR" sz="15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 err="1">
                <a:solidFill>
                  <a:srgbClr val="E6E6E6"/>
                </a:solidFill>
                <a:latin typeface="Arial"/>
                <a:ea typeface="Arial"/>
                <a:cs typeface="Arial"/>
              </a:rPr>
              <a:t>Autogestão</a:t>
            </a:r>
            <a:r>
              <a:rPr sz="1500" b="1" dirty="0">
                <a:solidFill>
                  <a:srgbClr val="E6E6E6"/>
                </a:solidFill>
                <a:latin typeface="Arial"/>
                <a:ea typeface="Arial"/>
                <a:cs typeface="Arial"/>
              </a:rPr>
              <a:t> individual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13BAAFFA-0770-49EC-9BA2-63322554491F}"/>
              </a:ext>
            </a:extLst>
          </p:cNvPr>
          <p:cNvSpPr>
            <a:spLocks noGrp="1"/>
          </p:cNvSpPr>
          <p:nvPr/>
        </p:nvSpPr>
        <p:spPr>
          <a:xfrm>
            <a:off x="3476625" y="3000375"/>
            <a:ext cx="52387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23813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5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API ASP.NET Core</a:t>
            </a:r>
            <a:endParaRPr lang="pt-BR" sz="1575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5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Autenticação</a:t>
            </a:r>
            <a:r>
              <a:rPr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escopo</a:t>
            </a:r>
            <a:r>
              <a:rPr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da </a:t>
            </a:r>
            <a:r>
              <a:rPr sz="1575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clínica</a:t>
            </a:r>
            <a:r>
              <a:rPr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e </a:t>
            </a:r>
            <a:r>
              <a:rPr sz="1575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regras</a:t>
            </a:r>
            <a:r>
              <a:rPr sz="1575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de </a:t>
            </a:r>
            <a:r>
              <a:rPr sz="1575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negócio</a:t>
            </a:r>
            <a:endParaRPr sz="1575" b="1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E7A90567-6878-45CE-8D43-507AE4BDCB41}"/>
              </a:ext>
            </a:extLst>
          </p:cNvPr>
          <p:cNvSpPr>
            <a:spLocks noGrp="1"/>
          </p:cNvSpPr>
          <p:nvPr/>
        </p:nvSpPr>
        <p:spPr>
          <a:xfrm>
            <a:off x="1571625" y="4619625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448BB6"/>
          </a:solidFill>
          <a:ln w="14288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chemeClr val="bg1">
                    <a:lumMod val="95000"/>
                  </a:schemeClr>
                </a:solidFill>
                <a:latin typeface="Arial"/>
                <a:ea typeface="Arial"/>
                <a:cs typeface="Arial"/>
              </a:rPr>
              <a:t>PostgreSQL</a:t>
            </a:r>
            <a:endParaRPr lang="pt-BR" sz="1425" b="1" dirty="0">
              <a:solidFill>
                <a:schemeClr val="bg1">
                  <a:lumMod val="95000"/>
                </a:schemeClr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425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E6E6E6"/>
                </a:solidFill>
                <a:latin typeface="Arial"/>
                <a:ea typeface="Arial"/>
                <a:cs typeface="Arial"/>
              </a:rPr>
              <a:t>Dados e </a:t>
            </a:r>
            <a:r>
              <a:rPr sz="1425" b="1" dirty="0" err="1">
                <a:solidFill>
                  <a:srgbClr val="E6E6E6"/>
                </a:solidFill>
                <a:latin typeface="Arial"/>
                <a:ea typeface="Arial"/>
                <a:cs typeface="Arial"/>
              </a:rPr>
              <a:t>histórico</a:t>
            </a:r>
            <a:endParaRPr sz="1425" b="1" dirty="0">
              <a:solidFill>
                <a:srgbClr val="E6E6E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C8384D7-477B-4F2B-BE1A-CF7CA721A9E4}"/>
              </a:ext>
            </a:extLst>
          </p:cNvPr>
          <p:cNvSpPr>
            <a:spLocks noGrp="1"/>
          </p:cNvSpPr>
          <p:nvPr/>
        </p:nvSpPr>
        <p:spPr>
          <a:xfrm>
            <a:off x="4905375" y="4619625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FF7575"/>
          </a:solidFill>
          <a:ln w="14288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n8n</a:t>
            </a:r>
            <a:endParaRPr lang="pt-BR" sz="1425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425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E6E6E6"/>
                </a:solidFill>
                <a:latin typeface="Arial"/>
                <a:ea typeface="Arial"/>
                <a:cs typeface="Arial"/>
              </a:rPr>
              <a:t>Orquestração</a:t>
            </a:r>
            <a:endParaRPr sz="1425" b="1" dirty="0">
              <a:solidFill>
                <a:srgbClr val="E6E6E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44F96C0-1F9A-468E-9DED-C5DEF113E21F}"/>
              </a:ext>
            </a:extLst>
          </p:cNvPr>
          <p:cNvSpPr>
            <a:spLocks noGrp="1"/>
          </p:cNvSpPr>
          <p:nvPr/>
        </p:nvSpPr>
        <p:spPr>
          <a:xfrm>
            <a:off x="8239125" y="4619625"/>
            <a:ext cx="2381250" cy="742950"/>
          </a:xfrm>
          <a:prstGeom prst="roundRect">
            <a:avLst>
              <a:gd name="adj" fmla="val 15385"/>
            </a:avLst>
          </a:prstGeom>
          <a:solidFill>
            <a:srgbClr val="4E94FE"/>
          </a:solidFill>
          <a:ln w="14288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 wrap="square" anchor="ctr">
            <a:normAutofit fontScale="92500" lnSpcReduction="10000"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Google Calendar</a:t>
            </a:r>
            <a:endParaRPr lang="pt-BR" sz="1425" b="1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endParaRPr sz="1425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E6E6E6"/>
                </a:solidFill>
                <a:latin typeface="Arial"/>
                <a:ea typeface="Arial"/>
                <a:cs typeface="Arial"/>
              </a:rPr>
              <a:t>Agenda externa</a:t>
            </a:r>
          </a:p>
        </p:txBody>
      </p:sp>
      <p:cxnSp>
        <p:nvCxnSpPr>
          <p:cNvPr id="30" name="Conector: Angulado 29"/>
          <p:cNvCxnSpPr>
            <a:stCxn id="4" idx="2"/>
            <a:endCxn id="7" idx="0"/>
          </p:cNvCxnSpPr>
          <p:nvPr/>
        </p:nvCxnSpPr>
        <p:spPr>
          <a:xfrm>
            <a:off x="1952625" y="2314575"/>
            <a:ext cx="4143375" cy="6858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97B2"/>
            </a:solidFill>
            <a:prstDash val="solid"/>
            <a:tailEnd type="triangle" w="sm" len="sm"/>
          </a:ln>
        </p:spPr>
      </p:cxnSp>
      <p:cxnSp>
        <p:nvCxnSpPr>
          <p:cNvPr id="31" name="Conector de Seta Reta 30"/>
          <p:cNvCxnSpPr>
            <a:stCxn id="5" idx="2"/>
            <a:endCxn id="7" idx="0"/>
          </p:cNvCxnSpPr>
          <p:nvPr/>
        </p:nvCxnSpPr>
        <p:spPr>
          <a:xfrm>
            <a:off x="6096000" y="2314575"/>
            <a:ext cx="0" cy="685800"/>
          </a:xfrm>
          <a:prstGeom prst="straightConnector1">
            <a:avLst/>
          </a:prstGeom>
          <a:ln w="19050">
            <a:solidFill>
              <a:srgbClr val="0097B2"/>
            </a:solidFill>
            <a:prstDash val="solid"/>
            <a:tailEnd type="triangle" w="sm" len="sm"/>
          </a:ln>
        </p:spPr>
      </p:cxnSp>
      <p:cxnSp>
        <p:nvCxnSpPr>
          <p:cNvPr id="32" name="Conector: Angulado 31"/>
          <p:cNvCxnSpPr>
            <a:cxnSpLocks/>
            <a:stCxn id="6" idx="2"/>
            <a:endCxn id="7" idx="0"/>
          </p:cNvCxnSpPr>
          <p:nvPr/>
        </p:nvCxnSpPr>
        <p:spPr>
          <a:xfrm rot="5400000">
            <a:off x="7723437" y="687139"/>
            <a:ext cx="685800" cy="3940673"/>
          </a:xfrm>
          <a:prstGeom prst="bentConnector3">
            <a:avLst>
              <a:gd name="adj1" fmla="val 50000"/>
            </a:avLst>
          </a:prstGeom>
          <a:ln w="28575">
            <a:solidFill>
              <a:srgbClr val="006578"/>
            </a:solidFill>
            <a:prstDash val="solid"/>
            <a:tailEnd type="triangle" w="sm" len="sm"/>
          </a:ln>
        </p:spPr>
      </p:cxnSp>
      <p:cxnSp>
        <p:nvCxnSpPr>
          <p:cNvPr id="33" name="Conector: Angulado 32"/>
          <p:cNvCxnSpPr>
            <a:stCxn id="7" idx="2"/>
            <a:endCxn id="8" idx="0"/>
          </p:cNvCxnSpPr>
          <p:nvPr/>
        </p:nvCxnSpPr>
        <p:spPr>
          <a:xfrm flipH="1">
            <a:off x="2762250" y="3914775"/>
            <a:ext cx="3333750" cy="7048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4" name="Conector de Seta Reta 33"/>
          <p:cNvCxnSpPr>
            <a:stCxn id="7" idx="2"/>
            <a:endCxn id="9" idx="0"/>
          </p:cNvCxnSpPr>
          <p:nvPr/>
        </p:nvCxnSpPr>
        <p:spPr>
          <a:xfrm>
            <a:off x="6096000" y="3914775"/>
            <a:ext cx="0" cy="70485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5" name="Conector de Seta Reta 34"/>
          <p:cNvCxnSpPr>
            <a:stCxn id="9" idx="3"/>
            <a:endCxn id="10" idx="1"/>
          </p:cNvCxnSpPr>
          <p:nvPr/>
        </p:nvCxnSpPr>
        <p:spPr>
          <a:xfrm>
            <a:off x="7286625" y="4991100"/>
            <a:ext cx="952500" cy="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sp>
        <p:nvSpPr>
          <p:cNvPr id="17" name="Retângulo 16">
            <a:extLst>
              <a:ext uri="{FF2B5EF4-FFF2-40B4-BE49-F238E27FC236}">
                <a16:creationId xmlns:a16="http://schemas.microsoft.com/office/drawing/2014/main" id="{BD6D4DF2-A61A-486D-97EA-016E30922D3F}"/>
              </a:ext>
            </a:extLst>
          </p:cNvPr>
          <p:cNvSpPr>
            <a:spLocks noGrp="1"/>
          </p:cNvSpPr>
          <p:nvPr/>
        </p:nvSpPr>
        <p:spPr>
          <a:xfrm>
            <a:off x="1143000" y="5715000"/>
            <a:ext cx="990600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ctr">
              <a:defRPr sz="15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 aplicativo mobile amplia o Agend.AI com um canal dedicado ao profissional, reutilizando a mesma API, os mesmos dados e as integrações da clínica.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EACAC9D-BAB3-42E9-A9A9-EC65EEAA7D1B}"/>
              </a:ext>
            </a:extLst>
          </p:cNvPr>
          <p:cNvSpPr txBox="1"/>
          <p:nvPr/>
        </p:nvSpPr>
        <p:spPr>
          <a:xfrm>
            <a:off x="1062301" y="1495365"/>
            <a:ext cx="1780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4">
                    <a:lumMod val="50000"/>
                  </a:schemeClr>
                </a:solidFill>
              </a:rPr>
              <a:t>Agend.AI - </a:t>
            </a:r>
            <a:r>
              <a:rPr lang="pt-BR" sz="2000" b="1" dirty="0">
                <a:solidFill>
                  <a:schemeClr val="accent4">
                    <a:lumMod val="50000"/>
                  </a:schemeClr>
                </a:solidFill>
              </a:rPr>
              <a:t>Web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6B7D1B5-9B0A-4207-B9D1-8A312C90ABD5}"/>
              </a:ext>
            </a:extLst>
          </p:cNvPr>
          <p:cNvSpPr txBox="1"/>
          <p:nvPr/>
        </p:nvSpPr>
        <p:spPr>
          <a:xfrm>
            <a:off x="4947702" y="1476375"/>
            <a:ext cx="22965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err="1">
                <a:solidFill>
                  <a:schemeClr val="accent4">
                    <a:lumMod val="50000"/>
                  </a:schemeClr>
                </a:solidFill>
              </a:rPr>
              <a:t>Chatbot</a:t>
            </a:r>
            <a:r>
              <a:rPr lang="pt-BR" b="1" dirty="0">
                <a:solidFill>
                  <a:schemeClr val="accent4">
                    <a:lumMod val="50000"/>
                  </a:schemeClr>
                </a:solidFill>
              </a:rPr>
              <a:t> - </a:t>
            </a:r>
            <a:r>
              <a:rPr lang="pt-BR" sz="2000" b="1" dirty="0">
                <a:solidFill>
                  <a:schemeClr val="accent4">
                    <a:lumMod val="50000"/>
                  </a:schemeClr>
                </a:solidFill>
              </a:rPr>
              <a:t>Telegram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D8B7363-7BE5-4EE4-A994-E9F995BC7D68}"/>
              </a:ext>
            </a:extLst>
          </p:cNvPr>
          <p:cNvSpPr txBox="1"/>
          <p:nvPr/>
        </p:nvSpPr>
        <p:spPr>
          <a:xfrm>
            <a:off x="8482972" y="1485840"/>
            <a:ext cx="310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Agend.AI Profissional - App</a:t>
            </a:r>
            <a:endParaRPr lang="pt-BR" sz="20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561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41DE0666-B890-44DF-89F7-591A6AAB0E4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Público-alvo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0BFD8E7-8A76-49D9-9331-7B5E8FA68D3D}"/>
              </a:ext>
            </a:extLst>
          </p:cNvPr>
          <p:cNvSpPr>
            <a:spLocks noGrp="1"/>
          </p:cNvSpPr>
          <p:nvPr/>
        </p:nvSpPr>
        <p:spPr>
          <a:xfrm>
            <a:off x="647700" y="1524000"/>
            <a:ext cx="3905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40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Dra. Marina Souza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EF467927-F9BB-4D42-9C1F-A3D6EED32698}"/>
              </a:ext>
            </a:extLst>
          </p:cNvPr>
          <p:cNvSpPr>
            <a:spLocks noGrp="1"/>
          </p:cNvSpPr>
          <p:nvPr/>
        </p:nvSpPr>
        <p:spPr>
          <a:xfrm>
            <a:off x="666750" y="19812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350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717A"/>
                </a:solidFill>
                <a:latin typeface="Arial"/>
                <a:ea typeface="Arial"/>
                <a:cs typeface="Arial"/>
              </a:rPr>
              <a:t>Persona de referência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F7ED9F-855B-4B63-8350-99CF18C107B4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429125" cy="290512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11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Consulta o celular entre atendimentos e fora da clínica</a:t>
            </a:r>
          </a:p>
          <a:p>
            <a:pPr marL="203200" indent="-101600">
              <a:spcAft>
                <a:spcPts val="11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Precisa conferir pacientes, bloquear compromissos e revisar preços</a:t>
            </a:r>
          </a:p>
          <a:p>
            <a:pPr marL="203200" indent="-101600">
              <a:spcAft>
                <a:spcPts val="11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Busca uma visão rápida da agenda e das receitas</a:t>
            </a:r>
          </a:p>
          <a:p>
            <a:pPr marL="203200" indent="-101600">
              <a:spcAft>
                <a:spcPts val="1100"/>
              </a:spcAft>
              <a:buChar char="•"/>
              <a:defRPr sz="165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31B2E"/>
                </a:solidFill>
                <a:latin typeface="Arial"/>
                <a:ea typeface="Arial"/>
                <a:cs typeface="Arial"/>
              </a:rPr>
              <a:t>Espera concluir tarefas frequentes em poucos toques</a:t>
            </a:r>
          </a:p>
        </p:txBody>
      </p:sp>
      <p:sp>
        <p:nvSpPr>
          <p:cNvPr id="7" name="Conector reto 6">
            <a:extLst>
              <a:ext uri="{FF2B5EF4-FFF2-40B4-BE49-F238E27FC236}">
                <a16:creationId xmlns:a16="http://schemas.microsoft.com/office/drawing/2014/main" id="{08B4945E-262A-415D-99B9-6614CC39609A}"/>
              </a:ext>
            </a:extLst>
          </p:cNvPr>
          <p:cNvSpPr>
            <a:spLocks noGrp="1"/>
          </p:cNvSpPr>
          <p:nvPr/>
        </p:nvSpPr>
        <p:spPr>
          <a:xfrm>
            <a:off x="5429250" y="1476375"/>
            <a:ext cx="0" cy="4476750"/>
          </a:xfrm>
          <a:prstGeom prst="line">
            <a:avLst/>
          </a:prstGeom>
          <a:noFill/>
          <a:ln w="19050">
            <a:solidFill>
              <a:srgbClr val="D9E2E7"/>
            </a:solidFill>
            <a:prstDash val="solid"/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0994ABE-B065-4C65-8F89-4C477E124DEC}"/>
              </a:ext>
            </a:extLst>
          </p:cNvPr>
          <p:cNvSpPr>
            <a:spLocks noGrp="1"/>
          </p:cNvSpPr>
          <p:nvPr/>
        </p:nvSpPr>
        <p:spPr>
          <a:xfrm>
            <a:off x="5905500" y="1524000"/>
            <a:ext cx="476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0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Quem usa o aplicativo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9F44725-CC24-460B-BE36-0FA4AC89EAAE}"/>
              </a:ext>
            </a:extLst>
          </p:cNvPr>
          <p:cNvSpPr>
            <a:spLocks noGrp="1"/>
          </p:cNvSpPr>
          <p:nvPr/>
        </p:nvSpPr>
        <p:spPr>
          <a:xfrm>
            <a:off x="5905500" y="213360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725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097"/>
                </a:solidFill>
                <a:latin typeface="Arial"/>
                <a:ea typeface="Arial"/>
                <a:cs typeface="Arial"/>
              </a:rPr>
              <a:t>Médicos  •  Psicólogos  •  Fisioterapeutas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D811D11-CF8E-4F7A-B609-9738BF519414}"/>
              </a:ext>
            </a:extLst>
          </p:cNvPr>
          <p:cNvSpPr>
            <a:spLocks noGrp="1"/>
          </p:cNvSpPr>
          <p:nvPr/>
        </p:nvSpPr>
        <p:spPr>
          <a:xfrm>
            <a:off x="5905500" y="2609850"/>
            <a:ext cx="533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725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097"/>
                </a:solidFill>
                <a:latin typeface="Arial"/>
                <a:ea typeface="Arial"/>
                <a:cs typeface="Arial"/>
              </a:rPr>
              <a:t>Nutricionistas  •  Profissionais de estética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29FDB63-2A77-43D0-8091-E8E7D681C0B7}"/>
              </a:ext>
            </a:extLst>
          </p:cNvPr>
          <p:cNvSpPr>
            <a:spLocks noGrp="1"/>
          </p:cNvSpPr>
          <p:nvPr/>
        </p:nvSpPr>
        <p:spPr>
          <a:xfrm>
            <a:off x="5905500" y="3429000"/>
            <a:ext cx="3714750" cy="3810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8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Limites deste canal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F0EC8C-B642-47D3-8237-216528B97161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5334000" cy="161925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9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Administradores e atendentes permanecem no sistema Web</a:t>
            </a:r>
          </a:p>
          <a:p>
            <a:pPr marL="203200" indent="-101600">
              <a:spcAft>
                <a:spcPts val="9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Clientes continuam agendando pelo chatbot ou pelos canais da clínica</a:t>
            </a:r>
          </a:p>
          <a:p>
            <a:pPr marL="203200" indent="-101600">
              <a:spcAft>
                <a:spcPts val="9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O aplicativo apresenta apenas o contexto do profissional autenticado</a:t>
            </a:r>
          </a:p>
        </p:txBody>
      </p:sp>
    </p:spTree>
    <p:extLst>
      <p:ext uri="{BB962C8B-B14F-4D97-AF65-F5344CB8AC3E}">
        <p14:creationId xmlns:p14="http://schemas.microsoft.com/office/powerpoint/2010/main" val="446924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D79DA78F-14D0-491B-8527-A68B8C93CC4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A</a:t>
            </a:r>
            <a:r>
              <a:rPr sz="3000" b="1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nálise</a:t>
            </a: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de </a:t>
            </a:r>
            <a:r>
              <a:rPr sz="3000" b="1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similares</a:t>
            </a:r>
            <a:endParaRPr sz="30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12" name="Tabela 11"/>
          <p:cNvGraphicFramePr/>
          <p:nvPr/>
        </p:nvGraphicFramePr>
        <p:xfrm>
          <a:off x="647700" y="1476375"/>
          <a:ext cx="10896600" cy="3714752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86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Solução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Recursos observados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Aprendizado para o Agend.AI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iClinic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Agenda, bloqueios, procedimentos e gestão financeira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Reúne rotina operacional e visão financeira em um mesmo produto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Aplicativo iClinic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Consulta móvel da agenda e dos dados da clínica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Confirma a necessidade de uma experiência rápida entre atendimentos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Agenda Doctoralia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Agendamento on-line, lembretes e comunicação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Referência de conveniência, com foco maior em captação de pacientes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D8888BAB-C54E-4C99-8CF0-116E0404F70E}"/>
              </a:ext>
            </a:extLst>
          </p:cNvPr>
          <p:cNvSpPr>
            <a:spLocks noGrp="1"/>
          </p:cNvSpPr>
          <p:nvPr/>
        </p:nvSpPr>
        <p:spPr>
          <a:xfrm>
            <a:off x="666750" y="55245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Diferencial do projeto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AC43EB59-B383-4E31-BA9E-AD4369CEC74D}"/>
              </a:ext>
            </a:extLst>
          </p:cNvPr>
          <p:cNvSpPr>
            <a:spLocks noGrp="1"/>
          </p:cNvSpPr>
          <p:nvPr/>
        </p:nvSpPr>
        <p:spPr>
          <a:xfrm>
            <a:off x="3000375" y="5467350"/>
            <a:ext cx="8524875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7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31B2E"/>
                </a:solidFill>
                <a:latin typeface="Arial"/>
                <a:ea typeface="Arial"/>
                <a:cs typeface="Arial"/>
              </a:rPr>
              <a:t>Integração com o catálogo da clínica, valores específicos por profissional e sincronização da agenda por n8n e Google Calendar.</a:t>
            </a:r>
          </a:p>
        </p:txBody>
      </p:sp>
    </p:spTree>
    <p:extLst>
      <p:ext uri="{BB962C8B-B14F-4D97-AF65-F5344CB8AC3E}">
        <p14:creationId xmlns:p14="http://schemas.microsoft.com/office/powerpoint/2010/main" val="2009335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98509BC2-7F60-47C3-9817-AC66FB40D0BA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MVP acadêmico e evolução do produto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ADC4EEF-8548-4EA0-A33A-197AC0F503D2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4191000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175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MVP acadêmico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F03E07-FB24-4D24-9DA2-002A2E718287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4762500" cy="33813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Login, sessão segura e perfil do profissional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Home com próximo atendimento e indicadores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Agenda, detalhes e indisponibilidades pontuais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Resumo de receitas do período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Seleção e edição dos procedimentos oferecidos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Estados de carregamento, vazio, erro e sessão expirada</a:t>
            </a:r>
          </a:p>
        </p:txBody>
      </p:sp>
      <p:sp>
        <p:nvSpPr>
          <p:cNvPr id="6" name="Conector reto 5">
            <a:extLst>
              <a:ext uri="{FF2B5EF4-FFF2-40B4-BE49-F238E27FC236}">
                <a16:creationId xmlns:a16="http://schemas.microsoft.com/office/drawing/2014/main" id="{CEE278A4-E075-447F-B4B4-783044B2B7B9}"/>
              </a:ext>
            </a:extLst>
          </p:cNvPr>
          <p:cNvSpPr>
            <a:spLocks noGrp="1"/>
          </p:cNvSpPr>
          <p:nvPr/>
        </p:nvSpPr>
        <p:spPr>
          <a:xfrm>
            <a:off x="5769610" y="1388630"/>
            <a:ext cx="21590" cy="4125191"/>
          </a:xfrm>
          <a:prstGeom prst="line">
            <a:avLst/>
          </a:prstGeom>
          <a:noFill/>
          <a:ln w="19050">
            <a:solidFill>
              <a:srgbClr val="D9E2E7"/>
            </a:solidFill>
            <a:prstDash val="solid"/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8080328-179E-4EEC-B55D-5EA4E9E56449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4572000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17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5B5BD6"/>
                </a:solidFill>
                <a:latin typeface="Arial"/>
                <a:ea typeface="Arial"/>
                <a:cs typeface="Arial"/>
              </a:rPr>
              <a:t>Implementações futuras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CE38D77-EBFE-4485-B58E-EEC463280858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5000625" cy="338137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Solicitações e negociação de reagendamento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Comunicação direta com o cliente pelo Telegram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Solicitação de novos procedimentos com aprovação administrativa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Financeiro detalhado, repasses e conciliação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Refresh token, recuperação de senha e notificações push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31B2E"/>
                </a:solidFill>
                <a:latin typeface="Arial"/>
                <a:ea typeface="Arial"/>
                <a:cs typeface="Arial"/>
              </a:rPr>
              <a:t>Indisponibilidades recorrentes e funcionamento offline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C4B3E75-BF95-44A4-ABC6-E6D03B1D85A3}"/>
              </a:ext>
            </a:extLst>
          </p:cNvPr>
          <p:cNvSpPr>
            <a:spLocks noGrp="1"/>
          </p:cNvSpPr>
          <p:nvPr/>
        </p:nvSpPr>
        <p:spPr>
          <a:xfrm>
            <a:off x="647699" y="5928359"/>
            <a:ext cx="1521459" cy="258445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350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r>
              <a:rPr sz="1350" b="1" dirty="0" err="1">
                <a:solidFill>
                  <a:srgbClr val="B45309"/>
                </a:solidFill>
                <a:latin typeface="Arial"/>
                <a:ea typeface="Arial"/>
                <a:cs typeface="Arial"/>
              </a:rPr>
              <a:t>Regra</a:t>
            </a:r>
            <a:r>
              <a:rPr sz="135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 do </a:t>
            </a:r>
            <a:r>
              <a:rPr sz="1350" b="1" dirty="0" err="1">
                <a:solidFill>
                  <a:srgbClr val="B45309"/>
                </a:solidFill>
                <a:latin typeface="Arial"/>
                <a:ea typeface="Arial"/>
                <a:cs typeface="Arial"/>
              </a:rPr>
              <a:t>prazo</a:t>
            </a:r>
            <a:r>
              <a:rPr lang="pt-BR" sz="135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:</a:t>
            </a:r>
            <a:endParaRPr sz="1350" b="1" dirty="0">
              <a:solidFill>
                <a:srgbClr val="B4530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748BD7-0E6D-4AC8-8280-72B067BD2715}"/>
              </a:ext>
            </a:extLst>
          </p:cNvPr>
          <p:cNvSpPr>
            <a:spLocks noGrp="1"/>
          </p:cNvSpPr>
          <p:nvPr/>
        </p:nvSpPr>
        <p:spPr>
          <a:xfrm>
            <a:off x="2095500" y="5923280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425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Atrasos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reduzem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acabamento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P1/P2.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Novas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funcionalidades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não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entram</a:t>
            </a:r>
            <a:r>
              <a:rPr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no MVP.</a:t>
            </a:r>
          </a:p>
        </p:txBody>
      </p:sp>
    </p:spTree>
    <p:extLst>
      <p:ext uri="{BB962C8B-B14F-4D97-AF65-F5344CB8AC3E}">
        <p14:creationId xmlns:p14="http://schemas.microsoft.com/office/powerpoint/2010/main" val="246876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tângulo 29">
            <a:extLst>
              <a:ext uri="{FF2B5EF4-FFF2-40B4-BE49-F238E27FC236}">
                <a16:creationId xmlns:a16="http://schemas.microsoft.com/office/drawing/2014/main" id="{3154E896-DE66-4879-B860-1E7291192143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Fluxo do Usuário n</a:t>
            </a: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o </a:t>
            </a:r>
            <a:r>
              <a:rPr sz="3000" b="1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aplicativo</a:t>
            </a:r>
            <a:endParaRPr sz="30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503E65E-EA90-45CB-AB8F-1A05720F1973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619250" cy="552450"/>
          </a:xfrm>
          <a:prstGeom prst="roundRect">
            <a:avLst>
              <a:gd name="adj" fmla="val 20690"/>
            </a:avLst>
          </a:prstGeom>
          <a:solidFill>
            <a:srgbClr val="006578"/>
          </a:solidFill>
          <a:ln w="14288">
            <a:solidFill>
              <a:srgbClr val="006578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Abrir aplicativo</a:t>
            </a:r>
          </a:p>
        </p:txBody>
      </p:sp>
      <p:sp>
        <p:nvSpPr>
          <p:cNvPr id="5" name="Losango 4">
            <a:extLst>
              <a:ext uri="{FF2B5EF4-FFF2-40B4-BE49-F238E27FC236}">
                <a16:creationId xmlns:a16="http://schemas.microsoft.com/office/drawing/2014/main" id="{E8C4D20B-E1FE-40A7-8755-171EF6691988}"/>
              </a:ext>
            </a:extLst>
          </p:cNvPr>
          <p:cNvSpPr>
            <a:spLocks noGrp="1"/>
          </p:cNvSpPr>
          <p:nvPr/>
        </p:nvSpPr>
        <p:spPr>
          <a:xfrm>
            <a:off x="2762250" y="1362075"/>
            <a:ext cx="1428750" cy="685800"/>
          </a:xfrm>
          <a:prstGeom prst="diamond">
            <a:avLst/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 fontScale="72206" lnSpcReduction="10000"/>
          </a:bodyPr>
          <a:lstStyle/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Sessão válida?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176F359-34B9-4181-B44E-FC20EEFA29D3}"/>
              </a:ext>
            </a:extLst>
          </p:cNvPr>
          <p:cNvSpPr>
            <a:spLocks noGrp="1"/>
          </p:cNvSpPr>
          <p:nvPr/>
        </p:nvSpPr>
        <p:spPr>
          <a:xfrm>
            <a:off x="4619625" y="1428750"/>
            <a:ext cx="1381125" cy="552450"/>
          </a:xfrm>
          <a:prstGeom prst="roundRect">
            <a:avLst>
              <a:gd name="adj" fmla="val 20690"/>
            </a:avLst>
          </a:prstGeom>
          <a:solidFill>
            <a:srgbClr val="E6F5F8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Login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8F7E2D6-8036-4BF7-A9E1-79F0D7176F48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1428750" cy="552450"/>
          </a:xfrm>
          <a:prstGeom prst="roundRect">
            <a:avLst>
              <a:gd name="adj" fmla="val 20690"/>
            </a:avLst>
          </a:prstGeom>
          <a:solidFill>
            <a:srgbClr val="006578"/>
          </a:solidFill>
          <a:ln w="14288">
            <a:solidFill>
              <a:srgbClr val="006578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Início</a:t>
            </a:r>
          </a:p>
        </p:txBody>
      </p:sp>
      <p:cxnSp>
        <p:nvCxnSpPr>
          <p:cNvPr id="37" name="Conector de Seta Reta 36"/>
          <p:cNvCxnSpPr>
            <a:stCxn id="4" idx="3"/>
            <a:endCxn id="5" idx="1"/>
          </p:cNvCxnSpPr>
          <p:nvPr/>
        </p:nvCxnSpPr>
        <p:spPr>
          <a:xfrm>
            <a:off x="2286000" y="1704975"/>
            <a:ext cx="476250" cy="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8" name="Conector de Seta Reta 37"/>
          <p:cNvCxnSpPr>
            <a:stCxn id="5" idx="3"/>
            <a:endCxn id="6" idx="1"/>
          </p:cNvCxnSpPr>
          <p:nvPr/>
        </p:nvCxnSpPr>
        <p:spPr>
          <a:xfrm>
            <a:off x="4191000" y="1704975"/>
            <a:ext cx="428625" cy="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9" name="Conector de Seta Reta 38"/>
          <p:cNvCxnSpPr>
            <a:stCxn id="6" idx="3"/>
            <a:endCxn id="7" idx="1"/>
          </p:cNvCxnSpPr>
          <p:nvPr/>
        </p:nvCxnSpPr>
        <p:spPr>
          <a:xfrm>
            <a:off x="6000750" y="1704975"/>
            <a:ext cx="476250" cy="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6B508CE-36E1-4601-9B30-8E451B4B7EBB}"/>
              </a:ext>
            </a:extLst>
          </p:cNvPr>
          <p:cNvSpPr>
            <a:spLocks noGrp="1"/>
          </p:cNvSpPr>
          <p:nvPr/>
        </p:nvSpPr>
        <p:spPr>
          <a:xfrm>
            <a:off x="742950" y="2905125"/>
            <a:ext cx="18097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82B677D8-68C0-423F-9E59-536798648BCD}"/>
              </a:ext>
            </a:extLst>
          </p:cNvPr>
          <p:cNvSpPr>
            <a:spLocks noGrp="1"/>
          </p:cNvSpPr>
          <p:nvPr/>
        </p:nvSpPr>
        <p:spPr>
          <a:xfrm>
            <a:off x="3333750" y="2905125"/>
            <a:ext cx="18097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Receitas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3B496F3-F7D8-48A3-BC6F-627E7C07D1AB}"/>
              </a:ext>
            </a:extLst>
          </p:cNvPr>
          <p:cNvSpPr>
            <a:spLocks noGrp="1"/>
          </p:cNvSpPr>
          <p:nvPr/>
        </p:nvSpPr>
        <p:spPr>
          <a:xfrm>
            <a:off x="5924550" y="2905125"/>
            <a:ext cx="20002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Procedimentos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253DE17-5FA2-4C88-8CB0-C3CBF76B04DF}"/>
              </a:ext>
            </a:extLst>
          </p:cNvPr>
          <p:cNvSpPr>
            <a:spLocks noGrp="1"/>
          </p:cNvSpPr>
          <p:nvPr/>
        </p:nvSpPr>
        <p:spPr>
          <a:xfrm>
            <a:off x="8715375" y="2905125"/>
            <a:ext cx="1809750" cy="552450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Perfil</a:t>
            </a:r>
          </a:p>
        </p:txBody>
      </p:sp>
      <p:cxnSp>
        <p:nvCxnSpPr>
          <p:cNvPr id="44" name="Conector: Angulado 43"/>
          <p:cNvCxnSpPr>
            <a:stCxn id="7" idx="2"/>
            <a:endCxn id="11" idx="0"/>
          </p:cNvCxnSpPr>
          <p:nvPr/>
        </p:nvCxnSpPr>
        <p:spPr>
          <a:xfrm flipH="1">
            <a:off x="1647825" y="1981200"/>
            <a:ext cx="5543550" cy="923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45" name="Conector: Angulado 44"/>
          <p:cNvCxnSpPr>
            <a:stCxn id="7" idx="2"/>
            <a:endCxn id="12" idx="0"/>
          </p:cNvCxnSpPr>
          <p:nvPr/>
        </p:nvCxnSpPr>
        <p:spPr>
          <a:xfrm flipH="1">
            <a:off x="4238625" y="1981200"/>
            <a:ext cx="2952750" cy="923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46" name="Conector: Angulado 45"/>
          <p:cNvCxnSpPr>
            <a:stCxn id="7" idx="2"/>
            <a:endCxn id="13" idx="0"/>
          </p:cNvCxnSpPr>
          <p:nvPr/>
        </p:nvCxnSpPr>
        <p:spPr>
          <a:xfrm flipH="1">
            <a:off x="6924675" y="1981200"/>
            <a:ext cx="266700" cy="923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47" name="Conector: Angulado 46"/>
          <p:cNvCxnSpPr>
            <a:stCxn id="7" idx="2"/>
            <a:endCxn id="14" idx="0"/>
          </p:cNvCxnSpPr>
          <p:nvPr/>
        </p:nvCxnSpPr>
        <p:spPr>
          <a:xfrm>
            <a:off x="7191375" y="1981200"/>
            <a:ext cx="2428875" cy="923925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062E6F9-A3E1-4307-9776-10F29A4344A1}"/>
              </a:ext>
            </a:extLst>
          </p:cNvPr>
          <p:cNvSpPr>
            <a:spLocks noGrp="1"/>
          </p:cNvSpPr>
          <p:nvPr/>
        </p:nvSpPr>
        <p:spPr>
          <a:xfrm>
            <a:off x="742950" y="4238625"/>
            <a:ext cx="1809750" cy="647700"/>
          </a:xfrm>
          <a:prstGeom prst="roundRect">
            <a:avLst>
              <a:gd name="adj" fmla="val 17647"/>
            </a:avLst>
          </a:prstGeom>
          <a:solidFill>
            <a:srgbClr val="F1FAFB"/>
          </a:solidFill>
          <a:ln w="14288">
            <a:solidFill>
              <a:srgbClr val="D9E2E7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Atendimento</a:t>
            </a:r>
          </a:p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ou bloqueio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413EE0CC-16BB-413D-BE5D-78CC4461E157}"/>
              </a:ext>
            </a:extLst>
          </p:cNvPr>
          <p:cNvSpPr>
            <a:spLocks noGrp="1"/>
          </p:cNvSpPr>
          <p:nvPr/>
        </p:nvSpPr>
        <p:spPr>
          <a:xfrm>
            <a:off x="3333750" y="4238625"/>
            <a:ext cx="1809750" cy="647700"/>
          </a:xfrm>
          <a:prstGeom prst="roundRect">
            <a:avLst>
              <a:gd name="adj" fmla="val 17647"/>
            </a:avLst>
          </a:prstGeom>
          <a:solidFill>
            <a:srgbClr val="F1FAFB"/>
          </a:solidFill>
          <a:ln w="14288">
            <a:solidFill>
              <a:srgbClr val="D9E2E7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Resumo por período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3B6010D-C0D6-432C-B84E-B9FE272F2905}"/>
              </a:ext>
            </a:extLst>
          </p:cNvPr>
          <p:cNvSpPr>
            <a:spLocks noGrp="1"/>
          </p:cNvSpPr>
          <p:nvPr/>
        </p:nvSpPr>
        <p:spPr>
          <a:xfrm>
            <a:off x="5924550" y="4238625"/>
            <a:ext cx="2000250" cy="647700"/>
          </a:xfrm>
          <a:prstGeom prst="roundRect">
            <a:avLst>
              <a:gd name="adj" fmla="val 17647"/>
            </a:avLst>
          </a:prstGeom>
          <a:solidFill>
            <a:srgbClr val="F1FAFB"/>
          </a:solidFill>
          <a:ln w="14288">
            <a:solidFill>
              <a:srgbClr val="D9E2E7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Associar ou editar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EECD9D9C-F1F5-46D8-92A6-8643057014DD}"/>
              </a:ext>
            </a:extLst>
          </p:cNvPr>
          <p:cNvSpPr>
            <a:spLocks noGrp="1"/>
          </p:cNvSpPr>
          <p:nvPr/>
        </p:nvSpPr>
        <p:spPr>
          <a:xfrm>
            <a:off x="8715375" y="4238625"/>
            <a:ext cx="1809750" cy="647700"/>
          </a:xfrm>
          <a:prstGeom prst="roundRect">
            <a:avLst>
              <a:gd name="adj" fmla="val 17647"/>
            </a:avLst>
          </a:prstGeom>
          <a:solidFill>
            <a:srgbClr val="F1FAFB"/>
          </a:solidFill>
          <a:ln w="14288">
            <a:solidFill>
              <a:srgbClr val="D9E2E7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27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Consultar ou sair</a:t>
            </a:r>
          </a:p>
        </p:txBody>
      </p:sp>
      <p:cxnSp>
        <p:nvCxnSpPr>
          <p:cNvPr id="52" name="Conector de Seta Reta 51"/>
          <p:cNvCxnSpPr>
            <a:stCxn id="11" idx="2"/>
            <a:endCxn id="19" idx="0"/>
          </p:cNvCxnSpPr>
          <p:nvPr/>
        </p:nvCxnSpPr>
        <p:spPr>
          <a:xfrm>
            <a:off x="1647825" y="3457575"/>
            <a:ext cx="0" cy="78105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53" name="Conector de Seta Reta 52"/>
          <p:cNvCxnSpPr>
            <a:stCxn id="12" idx="2"/>
            <a:endCxn id="20" idx="0"/>
          </p:cNvCxnSpPr>
          <p:nvPr/>
        </p:nvCxnSpPr>
        <p:spPr>
          <a:xfrm>
            <a:off x="4238625" y="3457575"/>
            <a:ext cx="0" cy="78105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54" name="Conector de Seta Reta 53"/>
          <p:cNvCxnSpPr>
            <a:stCxn id="13" idx="2"/>
            <a:endCxn id="21" idx="0"/>
          </p:cNvCxnSpPr>
          <p:nvPr/>
        </p:nvCxnSpPr>
        <p:spPr>
          <a:xfrm>
            <a:off x="6924675" y="3457575"/>
            <a:ext cx="0" cy="78105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55" name="Conector de Seta Reta 54"/>
          <p:cNvCxnSpPr>
            <a:stCxn id="14" idx="2"/>
            <a:endCxn id="22" idx="0"/>
          </p:cNvCxnSpPr>
          <p:nvPr/>
        </p:nvCxnSpPr>
        <p:spPr>
          <a:xfrm>
            <a:off x="9620250" y="3457575"/>
            <a:ext cx="0" cy="78105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sp>
        <p:nvSpPr>
          <p:cNvPr id="27" name="Retângulo 26">
            <a:extLst>
              <a:ext uri="{FF2B5EF4-FFF2-40B4-BE49-F238E27FC236}">
                <a16:creationId xmlns:a16="http://schemas.microsoft.com/office/drawing/2014/main" id="{8D5DBAAA-B63A-442A-8FEB-4879414934A6}"/>
              </a:ext>
            </a:extLst>
          </p:cNvPr>
          <p:cNvSpPr>
            <a:spLocks noGrp="1"/>
          </p:cNvSpPr>
          <p:nvPr/>
        </p:nvSpPr>
        <p:spPr>
          <a:xfrm>
            <a:off x="1047750" y="5476875"/>
            <a:ext cx="971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ctr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Falhas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de login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retornam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para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uma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nova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tentativa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.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Conflitos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de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horário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preservam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os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dados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informados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39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3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F1DC672B-42A5-4816-8F62-426368B1E8FC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Protótipo no Figma</a:t>
            </a:r>
          </a:p>
        </p:txBody>
      </p:sp>
      <p:pic>
        <p:nvPicPr>
          <p:cNvPr id="14" name="Imagem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6181" y="1200150"/>
            <a:ext cx="3613989" cy="509587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782708D6-B364-4D29-8D22-475A61EF7416}"/>
              </a:ext>
            </a:extLst>
          </p:cNvPr>
          <p:cNvSpPr>
            <a:spLocks noGrp="1"/>
          </p:cNvSpPr>
          <p:nvPr/>
        </p:nvSpPr>
        <p:spPr>
          <a:xfrm>
            <a:off x="5191125" y="148590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 telas no recorte acadêmico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9B2B34C-72EC-43B6-999A-7F0CBC9A2C49}"/>
              </a:ext>
            </a:extLst>
          </p:cNvPr>
          <p:cNvSpPr>
            <a:spLocks noGrp="1"/>
          </p:cNvSpPr>
          <p:nvPr/>
        </p:nvSpPr>
        <p:spPr>
          <a:xfrm>
            <a:off x="5191125" y="2095500"/>
            <a:ext cx="5810250" cy="9906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725" b="0">
                <a:solidFill>
                  <a:srgbClr val="D8E4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4E7"/>
                </a:solidFill>
                <a:latin typeface="Arial"/>
                <a:ea typeface="Arial"/>
                <a:cs typeface="Arial"/>
              </a:rPr>
              <a:t>O board também preserva estudos futuros de reagendamento e detalhamento financeiro, identificados como fora do escopo acadêmico.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99D97BA-925C-4A85-90AC-9A15972FD6C7}"/>
              </a:ext>
            </a:extLst>
          </p:cNvPr>
          <p:cNvSpPr>
            <a:spLocks noGrp="1"/>
          </p:cNvSpPr>
          <p:nvPr/>
        </p:nvSpPr>
        <p:spPr>
          <a:xfrm>
            <a:off x="5191125" y="3333750"/>
            <a:ext cx="5810250" cy="1952625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Frames de 390 × 844 pontos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Margem lateral aproximada de 20 pontos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Áreas de toque próximas de 44 × 44 pontos</a:t>
            </a:r>
          </a:p>
          <a:p>
            <a:pPr marL="203200" indent="-101600">
              <a:spcAft>
                <a:spcPts val="800"/>
              </a:spcAft>
              <a:buChar char="•"/>
              <a:defRPr sz="15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FFFFFF"/>
                </a:solidFill>
                <a:latin typeface="Arial"/>
                <a:ea typeface="Arial"/>
                <a:cs typeface="Arial"/>
              </a:rPr>
              <a:t>Navegação inferior: Início, Agenda, Receitas, Serviços e Perfil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0EB830C-C9F6-4D6F-90C5-55F0A8EFEE9A}"/>
              </a:ext>
            </a:extLst>
          </p:cNvPr>
          <p:cNvSpPr>
            <a:spLocks noGrp="1"/>
          </p:cNvSpPr>
          <p:nvPr/>
        </p:nvSpPr>
        <p:spPr>
          <a:xfrm>
            <a:off x="5191125" y="5467350"/>
            <a:ext cx="5429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>
                <a:solidFill>
                  <a:srgbClr val="80DCE6"/>
                </a:solidFill>
                <a:latin typeface="Arial"/>
                <a:ea typeface="Arial"/>
                <a:cs typeface="Arial"/>
              </a:defRPr>
            </a:pPr>
            <a:r>
              <a:rPr sz="2100" b="1" u="sng">
                <a:solidFill>
                  <a:srgbClr val="80DCE6"/>
                </a:solidFill>
                <a:latin typeface="Arial"/>
                <a:ea typeface="Arial"/>
                <a:cs typeface="Arial"/>
                <a:hlinkClick r:id="rId4"/>
              </a:rPr>
              <a:t>Abrir protótipo interativo no Figma</a:t>
            </a:r>
          </a:p>
        </p:txBody>
      </p:sp>
    </p:spTree>
    <p:extLst>
      <p:ext uri="{BB962C8B-B14F-4D97-AF65-F5344CB8AC3E}">
        <p14:creationId xmlns:p14="http://schemas.microsoft.com/office/powerpoint/2010/main" val="1790460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6A7E7127-180D-4FCC-BBD1-29DC8979D99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Stack tecnológica</a:t>
            </a:r>
          </a:p>
        </p:txBody>
      </p:sp>
      <p:graphicFrame>
        <p:nvGraphicFramePr>
          <p:cNvPr id="12" name="Tabela 11"/>
          <p:cNvGraphicFramePr/>
          <p:nvPr>
            <p:extLst>
              <p:ext uri="{D42A27DB-BD31-4B8C-83A1-F6EECF244321}">
                <p14:modId xmlns:p14="http://schemas.microsoft.com/office/powerpoint/2010/main" val="2590382052"/>
              </p:ext>
            </p:extLst>
          </p:nvPr>
        </p:nvGraphicFramePr>
        <p:xfrm>
          <a:off x="647700" y="1428750"/>
          <a:ext cx="10896600" cy="4095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14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Camada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Tecnologias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Responsabilidade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Mobile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React Native, Expo, TypeScript, Expo Router, SecureStore e Fetch API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Interface </a:t>
                      </a:r>
                      <a:r>
                        <a:rPr lang="pt-BR"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mobile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navegação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sessão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local e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consumo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da API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API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ASP.NET Core .NET 8, FluentValidation, AutoMapper e NHibernate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Autenticação, autorização, regras de negócio e persistência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Dados e automação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PostgreSQL 16, n8n e Google Calendar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Integridade relacional, workflows e eventos de agenda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Desenvolvimento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Docker Compose, Git, GitHub e Figma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Ambiente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local,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versionamento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prototipação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e </a:t>
                      </a:r>
                      <a:r>
                        <a:rPr sz="1425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documentação</a:t>
                      </a:r>
                      <a:r>
                        <a:rPr sz="1425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visual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A4115C9E-68F7-43A0-B0B8-303B99F0B810}"/>
              </a:ext>
            </a:extLst>
          </p:cNvPr>
          <p:cNvSpPr>
            <a:spLocks noGrp="1"/>
          </p:cNvSpPr>
          <p:nvPr/>
        </p:nvSpPr>
        <p:spPr>
          <a:xfrm>
            <a:off x="666750" y="5772150"/>
            <a:ext cx="152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35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Decisão central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5F217AF-FEC9-4C3D-A6A4-F0F38507872D}"/>
              </a:ext>
            </a:extLst>
          </p:cNvPr>
          <p:cNvSpPr>
            <a:spLocks noGrp="1"/>
          </p:cNvSpPr>
          <p:nvPr/>
        </p:nvSpPr>
        <p:spPr>
          <a:xfrm>
            <a:off x="2209800" y="5715000"/>
            <a:ext cx="87630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O app usa contratos TypeScript e não conhece banco, webhooks privados ou APIs externas.</a:t>
            </a:r>
          </a:p>
        </p:txBody>
      </p:sp>
    </p:spTree>
    <p:extLst>
      <p:ext uri="{BB962C8B-B14F-4D97-AF65-F5344CB8AC3E}">
        <p14:creationId xmlns:p14="http://schemas.microsoft.com/office/powerpoint/2010/main" val="400937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4F1D0F65-037C-4270-9AA6-F0742A08859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Modelo entidade-relacionamento</a:t>
            </a: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4296" y="1219200"/>
            <a:ext cx="6717257" cy="500062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4D42CA83-58FF-48A2-ADE9-1908D139E023}"/>
              </a:ext>
            </a:extLst>
          </p:cNvPr>
          <p:cNvSpPr>
            <a:spLocks noGrp="1"/>
          </p:cNvSpPr>
          <p:nvPr/>
        </p:nvSpPr>
        <p:spPr>
          <a:xfrm>
            <a:off x="8572500" y="1409700"/>
            <a:ext cx="2762250" cy="3619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80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Decisões do modelo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44023BA8-4A68-481F-A070-AE553E6ACE35}"/>
              </a:ext>
            </a:extLst>
          </p:cNvPr>
          <p:cNvSpPr>
            <a:spLocks noGrp="1"/>
          </p:cNvSpPr>
          <p:nvPr/>
        </p:nvSpPr>
        <p:spPr>
          <a:xfrm>
            <a:off x="8572500" y="1952625"/>
            <a:ext cx="2857500" cy="32385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noAutofit/>
          </a:bodyPr>
          <a:lstStyle/>
          <a:p>
            <a:pPr marL="203200" indent="-101600">
              <a:spcAft>
                <a:spcPts val="800"/>
              </a:spcAft>
              <a:buChar char="•"/>
              <a:defRPr sz="142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B2E"/>
                </a:solidFill>
                <a:latin typeface="Arial"/>
                <a:ea typeface="Arial"/>
                <a:cs typeface="Arial"/>
              </a:rPr>
              <a:t>A clínica mantém o catálogo de procedimentos</a:t>
            </a:r>
          </a:p>
          <a:p>
            <a:pPr marL="203200" indent="-101600">
              <a:spcAft>
                <a:spcPts val="800"/>
              </a:spcAft>
              <a:buChar char="•"/>
              <a:defRPr sz="142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B2E"/>
                </a:solidFill>
                <a:latin typeface="Arial"/>
                <a:ea typeface="Arial"/>
                <a:cs typeface="Arial"/>
              </a:rPr>
              <a:t>Cada profissional define valor e duração efetivos</a:t>
            </a:r>
          </a:p>
          <a:p>
            <a:pPr marL="203200" indent="-101600">
              <a:spcAft>
                <a:spcPts val="800"/>
              </a:spcAft>
              <a:buChar char="•"/>
              <a:defRPr sz="142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B2E"/>
                </a:solidFill>
                <a:latin typeface="Arial"/>
                <a:ea typeface="Arial"/>
                <a:cs typeface="Arial"/>
              </a:rPr>
              <a:t>Agendamentos preservam o valor aplicado no atendimento</a:t>
            </a:r>
          </a:p>
          <a:p>
            <a:pPr marL="203200" indent="-101600">
              <a:spcAft>
                <a:spcPts val="800"/>
              </a:spcAft>
              <a:buChar char="•"/>
              <a:defRPr sz="142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B2E"/>
                </a:solidFill>
                <a:latin typeface="Arial"/>
                <a:ea typeface="Arial"/>
                <a:cs typeface="Arial"/>
              </a:rPr>
              <a:t>UUIDs são públicos; IDs numéricos permanecem internos</a:t>
            </a:r>
          </a:p>
          <a:p>
            <a:pPr marL="203200" indent="-101600">
              <a:spcAft>
                <a:spcPts val="800"/>
              </a:spcAft>
              <a:buChar char="•"/>
              <a:defRPr sz="1425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1B2E"/>
                </a:solidFill>
                <a:latin typeface="Arial"/>
                <a:ea typeface="Arial"/>
                <a:cs typeface="Arial"/>
              </a:rPr>
              <a:t>O PostgreSQL bloqueia sobreposição de horários ativos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90250C9-CD11-4385-883B-AE7BD3C8AB1A}"/>
              </a:ext>
            </a:extLst>
          </p:cNvPr>
          <p:cNvSpPr>
            <a:spLocks noGrp="1"/>
          </p:cNvSpPr>
          <p:nvPr/>
        </p:nvSpPr>
        <p:spPr>
          <a:xfrm>
            <a:off x="8572500" y="5400675"/>
            <a:ext cx="2876550" cy="6667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350" b="1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494C"/>
                </a:solidFill>
                <a:latin typeface="Arial"/>
                <a:ea typeface="Arial"/>
                <a:cs typeface="Arial"/>
              </a:rPr>
              <a:t>Indisponibilidades pontuais permanecem como eventos controlados do Google Calendar.</a:t>
            </a:r>
          </a:p>
        </p:txBody>
      </p:sp>
    </p:spTree>
    <p:extLst>
      <p:ext uri="{BB962C8B-B14F-4D97-AF65-F5344CB8AC3E}">
        <p14:creationId xmlns:p14="http://schemas.microsoft.com/office/powerpoint/2010/main" val="71181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285FB583-C6D2-4700-B523-E70093779C7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Tabelas e preservação do histórico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16E4CA2-0DEF-4A4F-AF3B-C02FB8E9712D}"/>
              </a:ext>
            </a:extLst>
          </p:cNvPr>
          <p:cNvSpPr>
            <a:spLocks noGrp="1"/>
          </p:cNvSpPr>
          <p:nvPr/>
        </p:nvSpPr>
        <p:spPr>
          <a:xfrm>
            <a:off x="628650" y="124269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4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latin typeface="Arial"/>
                <a:ea typeface="Arial"/>
                <a:cs typeface="Arial"/>
              </a:rPr>
              <a:t>O </a:t>
            </a:r>
            <a:r>
              <a:rPr lang="pt-BR" sz="1425" b="0" dirty="0" err="1">
                <a:latin typeface="Arial"/>
                <a:ea typeface="Arial"/>
                <a:cs typeface="Arial"/>
              </a:rPr>
              <a:t>schema</a:t>
            </a:r>
            <a:r>
              <a:rPr lang="pt-BR" sz="1425" b="0" dirty="0">
                <a:latin typeface="Arial"/>
                <a:ea typeface="Arial"/>
                <a:cs typeface="Arial"/>
              </a:rPr>
              <a:t> atual possui n</a:t>
            </a:r>
            <a:r>
              <a:rPr sz="1425" b="0" dirty="0" err="1">
                <a:latin typeface="Arial"/>
                <a:ea typeface="Arial"/>
                <a:cs typeface="Arial"/>
              </a:rPr>
              <a:t>ove</a:t>
            </a:r>
            <a:r>
              <a:rPr sz="1425" b="0" dirty="0"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latin typeface="Arial"/>
                <a:ea typeface="Arial"/>
                <a:cs typeface="Arial"/>
              </a:rPr>
              <a:t>tabelas</a:t>
            </a:r>
            <a:r>
              <a:rPr lang="pt-BR" sz="1425" dirty="0">
                <a:latin typeface="Arial"/>
                <a:ea typeface="Arial"/>
                <a:cs typeface="Arial"/>
              </a:rPr>
              <a:t>, e tem</a:t>
            </a:r>
            <a:r>
              <a:rPr sz="1425" b="0" dirty="0"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latin typeface="Arial"/>
                <a:ea typeface="Arial"/>
                <a:cs typeface="Arial"/>
              </a:rPr>
              <a:t>exclusão</a:t>
            </a:r>
            <a:r>
              <a:rPr sz="1425" b="0" dirty="0"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latin typeface="Arial"/>
                <a:ea typeface="Arial"/>
                <a:cs typeface="Arial"/>
              </a:rPr>
              <a:t>lógica</a:t>
            </a:r>
            <a:r>
              <a:rPr sz="1425" b="0" dirty="0"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latin typeface="Arial"/>
                <a:ea typeface="Arial"/>
                <a:cs typeface="Arial"/>
              </a:rPr>
              <a:t>como</a:t>
            </a:r>
            <a:r>
              <a:rPr sz="1425" b="0" dirty="0">
                <a:latin typeface="Arial"/>
                <a:ea typeface="Arial"/>
                <a:cs typeface="Arial"/>
              </a:rPr>
              <a:t> </a:t>
            </a:r>
            <a:r>
              <a:rPr sz="1425" b="0" dirty="0" err="1">
                <a:latin typeface="Arial"/>
                <a:ea typeface="Arial"/>
                <a:cs typeface="Arial"/>
              </a:rPr>
              <a:t>padrão</a:t>
            </a:r>
            <a:r>
              <a:rPr sz="1425" b="0" dirty="0">
                <a:latin typeface="Arial"/>
                <a:ea typeface="Arial"/>
                <a:cs typeface="Arial"/>
              </a:rPr>
              <a:t> de </a:t>
            </a:r>
            <a:r>
              <a:rPr sz="1425" b="0" dirty="0" err="1">
                <a:latin typeface="Arial"/>
                <a:ea typeface="Arial"/>
                <a:cs typeface="Arial"/>
              </a:rPr>
              <a:t>negócio</a:t>
            </a:r>
            <a:endParaRPr sz="1425" b="0" dirty="0">
              <a:latin typeface="Arial"/>
              <a:ea typeface="Arial"/>
              <a:cs typeface="Arial"/>
            </a:endParaRPr>
          </a:p>
        </p:txBody>
      </p:sp>
      <p:graphicFrame>
        <p:nvGraphicFramePr>
          <p:cNvPr id="16" name="Tabela 15"/>
          <p:cNvGraphicFramePr/>
          <p:nvPr>
            <p:extLst>
              <p:ext uri="{D42A27DB-BD31-4B8C-83A1-F6EECF244321}">
                <p14:modId xmlns:p14="http://schemas.microsoft.com/office/powerpoint/2010/main" val="4169092047"/>
              </p:ext>
            </p:extLst>
          </p:nvPr>
        </p:nvGraphicFramePr>
        <p:xfrm>
          <a:off x="647700" y="1885950"/>
          <a:ext cx="10896600" cy="3333750"/>
        </p:xfrm>
        <a:graphic>
          <a:graphicData uri="http://schemas.openxmlformats.org/drawingml/2006/table">
            <a:tbl>
              <a:tblPr/>
              <a:tblGrid>
                <a:gridCol w="176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Domínio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Tabelas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Finalidade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Organização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clinicas, horario_funcionamento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Escopo da clínica e janelas de atendimento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Identidade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usuarios, profissionais, especialidades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Acesso, perfil profissional e classificação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Serviços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procedimentos, profissional_procedimentos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Catálogo-base e oferta efetiva de cada profissional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Operação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clientes</a:t>
                      </a:r>
                      <a:r>
                        <a:rPr sz="1350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agendamentos</a:t>
                      </a:r>
                      <a:endParaRPr sz="1350" dirty="0">
                        <a:solidFill>
                          <a:srgbClr val="131B2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Cliente</a:t>
                      </a:r>
                      <a:r>
                        <a:rPr sz="1350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, agenda, valor </a:t>
                      </a:r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histórico</a:t>
                      </a:r>
                      <a:r>
                        <a:rPr sz="1350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e </a:t>
                      </a:r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estado</a:t>
                      </a:r>
                      <a:r>
                        <a:rPr sz="1350" dirty="0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 do </a:t>
                      </a:r>
                      <a:r>
                        <a:rPr sz="1350" dirty="0" err="1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atendimento</a:t>
                      </a:r>
                      <a:endParaRPr sz="1350" dirty="0">
                        <a:solidFill>
                          <a:srgbClr val="131B2E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F22A464F-5FFD-439F-9E4D-B25DD1A4E10C}"/>
              </a:ext>
            </a:extLst>
          </p:cNvPr>
          <p:cNvSpPr>
            <a:spLocks noGrp="1"/>
          </p:cNvSpPr>
          <p:nvPr/>
        </p:nvSpPr>
        <p:spPr>
          <a:xfrm>
            <a:off x="1190376" y="5615383"/>
            <a:ext cx="1443403" cy="344091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 algn="l">
              <a:defRPr sz="180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800" b="1" dirty="0">
                <a:solidFill>
                  <a:srgbClr val="006578"/>
                </a:solidFill>
                <a:latin typeface="Arial"/>
                <a:ea typeface="Arial"/>
                <a:cs typeface="Arial"/>
              </a:rPr>
              <a:t>Soft delete</a:t>
            </a:r>
            <a:r>
              <a:rPr lang="pt-BR" sz="1800" b="1" dirty="0">
                <a:solidFill>
                  <a:srgbClr val="006578"/>
                </a:solidFill>
                <a:latin typeface="Arial"/>
                <a:ea typeface="Arial"/>
                <a:cs typeface="Arial"/>
              </a:rPr>
              <a:t>:</a:t>
            </a:r>
            <a:endParaRPr sz="1800" b="1" dirty="0">
              <a:solidFill>
                <a:srgbClr val="0065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E37BE0E-DCE8-4061-A462-7683936E22C1}"/>
              </a:ext>
            </a:extLst>
          </p:cNvPr>
          <p:cNvSpPr>
            <a:spLocks noGrp="1"/>
          </p:cNvSpPr>
          <p:nvPr/>
        </p:nvSpPr>
        <p:spPr>
          <a:xfrm>
            <a:off x="2399537" y="5645864"/>
            <a:ext cx="1765935" cy="344091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75" b="1">
                <a:solidFill>
                  <a:srgbClr val="16A34A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16A34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24F6940-33FF-4C13-AEBE-E63D300A5816}"/>
              </a:ext>
            </a:extLst>
          </p:cNvPr>
          <p:cNvSpPr>
            <a:spLocks noGrp="1"/>
          </p:cNvSpPr>
          <p:nvPr/>
        </p:nvSpPr>
        <p:spPr>
          <a:xfrm>
            <a:off x="4005452" y="5645863"/>
            <a:ext cx="2185797" cy="344091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425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endParaRPr sz="1425" b="0" dirty="0">
              <a:solidFill>
                <a:srgbClr val="3D49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CFF7550D-0569-4B46-8089-1E9CD96E13DB}"/>
              </a:ext>
            </a:extLst>
          </p:cNvPr>
          <p:cNvSpPr>
            <a:spLocks noGrp="1"/>
          </p:cNvSpPr>
          <p:nvPr/>
        </p:nvSpPr>
        <p:spPr>
          <a:xfrm>
            <a:off x="6136386" y="5623433"/>
            <a:ext cx="2361712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75" b="1">
                <a:solidFill>
                  <a:srgbClr val="B45309"/>
                </a:solidFill>
                <a:latin typeface="Arial"/>
                <a:ea typeface="Arial"/>
                <a:cs typeface="Arial"/>
              </a:defRPr>
            </a:pPr>
            <a:endParaRPr sz="1575" b="1" dirty="0">
              <a:solidFill>
                <a:srgbClr val="B45309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DF5956D-19D6-49EE-913D-469583D67D30}"/>
              </a:ext>
            </a:extLst>
          </p:cNvPr>
          <p:cNvSpPr>
            <a:spLocks noGrp="1"/>
          </p:cNvSpPr>
          <p:nvPr/>
        </p:nvSpPr>
        <p:spPr>
          <a:xfrm>
            <a:off x="8552961" y="5666105"/>
            <a:ext cx="2734164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425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endParaRPr sz="1425" b="0" dirty="0">
              <a:solidFill>
                <a:srgbClr val="3D494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14B56CE7-2287-4936-98D2-DC2A8721524A}"/>
              </a:ext>
            </a:extLst>
          </p:cNvPr>
          <p:cNvSpPr>
            <a:spLocks noGrp="1"/>
          </p:cNvSpPr>
          <p:nvPr/>
        </p:nvSpPr>
        <p:spPr>
          <a:xfrm>
            <a:off x="2533604" y="5615383"/>
            <a:ext cx="8721032" cy="344091"/>
          </a:xfrm>
          <a:prstGeom prst="rect">
            <a:avLst/>
          </a:prstGeom>
          <a:noFill/>
          <a:ln w="0">
            <a:noFill/>
          </a:ln>
        </p:spPr>
        <p:txBody>
          <a:bodyPr wrap="square" anchor="ctr">
            <a:noAutofit/>
          </a:bodyPr>
          <a:lstStyle/>
          <a:p>
            <a:pPr>
              <a:defRPr sz="1425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Se </a:t>
            </a:r>
            <a:r>
              <a:rPr lang="pt-BR" sz="1400" b="1" dirty="0" err="1">
                <a:solidFill>
                  <a:srgbClr val="16A34A"/>
                </a:solidFill>
                <a:latin typeface="Arial"/>
                <a:ea typeface="Arial"/>
                <a:cs typeface="Arial"/>
              </a:rPr>
              <a:t>deleted_at</a:t>
            </a:r>
            <a:r>
              <a:rPr lang="pt-BR" sz="1400" b="1" dirty="0">
                <a:solidFill>
                  <a:srgbClr val="16A34A"/>
                </a:solidFill>
                <a:latin typeface="Arial"/>
                <a:ea typeface="Arial"/>
                <a:cs typeface="Arial"/>
              </a:rPr>
              <a:t> = </a:t>
            </a:r>
            <a:r>
              <a:rPr lang="pt-BR" sz="1400" b="1" dirty="0" err="1">
                <a:solidFill>
                  <a:srgbClr val="16A34A"/>
                </a:solidFill>
                <a:latin typeface="Arial"/>
                <a:ea typeface="Arial"/>
                <a:cs typeface="Arial"/>
              </a:rPr>
              <a:t>null</a:t>
            </a:r>
            <a:r>
              <a:rPr lang="pt-BR" sz="14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, o registro está ativo. Se </a:t>
            </a:r>
            <a:r>
              <a:rPr lang="pt-BR" sz="1400" b="1" dirty="0" err="1">
                <a:solidFill>
                  <a:srgbClr val="B45309"/>
                </a:solidFill>
                <a:latin typeface="Arial"/>
                <a:ea typeface="Arial"/>
                <a:cs typeface="Arial"/>
              </a:rPr>
              <a:t>deleted_at</a:t>
            </a:r>
            <a:r>
              <a:rPr lang="pt-BR" sz="1400" b="1" dirty="0">
                <a:solidFill>
                  <a:srgbClr val="B45309"/>
                </a:solidFill>
                <a:latin typeface="Arial"/>
                <a:ea typeface="Arial"/>
                <a:cs typeface="Arial"/>
              </a:rPr>
              <a:t> = data/hora, </a:t>
            </a:r>
            <a:r>
              <a:rPr lang="pt-BR" sz="140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o r</a:t>
            </a:r>
            <a:r>
              <a:rPr lang="pt-BR" sz="14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egistro é considerado removido.</a:t>
            </a:r>
            <a:endParaRPr sz="1425" b="0" dirty="0">
              <a:solidFill>
                <a:srgbClr val="3D494C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043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67C22DA0-4F8F-4164-AB25-A8B561B134D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Integrações e responsabilidade da API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A36B321F-3323-4B84-A91F-51081AC54D54}"/>
              </a:ext>
            </a:extLst>
          </p:cNvPr>
          <p:cNvSpPr>
            <a:spLocks noGrp="1"/>
          </p:cNvSpPr>
          <p:nvPr/>
        </p:nvSpPr>
        <p:spPr>
          <a:xfrm>
            <a:off x="523875" y="2893060"/>
            <a:ext cx="2000250" cy="857250"/>
          </a:xfrm>
          <a:prstGeom prst="roundRect">
            <a:avLst>
              <a:gd name="adj" fmla="val 13333"/>
            </a:avLst>
          </a:prstGeom>
          <a:solidFill>
            <a:srgbClr val="006578"/>
          </a:solidFill>
          <a:ln w="14288">
            <a:solidFill>
              <a:srgbClr val="006578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App mobile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B9B4672-F3D2-4309-99EF-35FCA69209AB}"/>
              </a:ext>
            </a:extLst>
          </p:cNvPr>
          <p:cNvSpPr>
            <a:spLocks noGrp="1"/>
          </p:cNvSpPr>
          <p:nvPr/>
        </p:nvSpPr>
        <p:spPr>
          <a:xfrm>
            <a:off x="3286125" y="2750185"/>
            <a:ext cx="2333625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API ASP.NET Core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3323124-E119-4EEA-BB41-70B53A014FC2}"/>
              </a:ext>
            </a:extLst>
          </p:cNvPr>
          <p:cNvSpPr>
            <a:spLocks noGrp="1"/>
          </p:cNvSpPr>
          <p:nvPr/>
        </p:nvSpPr>
        <p:spPr>
          <a:xfrm>
            <a:off x="6572250" y="1845310"/>
            <a:ext cx="2000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PostgreSQL local</a:t>
            </a: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FE706F5-A047-4A43-A42B-983F8E4900A4}"/>
              </a:ext>
            </a:extLst>
          </p:cNvPr>
          <p:cNvSpPr>
            <a:spLocks noGrp="1"/>
          </p:cNvSpPr>
          <p:nvPr/>
        </p:nvSpPr>
        <p:spPr>
          <a:xfrm>
            <a:off x="9353550" y="1845310"/>
            <a:ext cx="2000250" cy="838200"/>
          </a:xfrm>
          <a:prstGeom prst="roundRect">
            <a:avLst>
              <a:gd name="adj" fmla="val 13636"/>
            </a:avLst>
          </a:prstGeom>
          <a:solidFill>
            <a:srgbClr val="EEF0FF"/>
          </a:solidFill>
          <a:ln w="14288">
            <a:solidFill>
              <a:srgbClr val="5B5BD6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5B5BD6"/>
                </a:solidFill>
                <a:latin typeface="Arial"/>
                <a:ea typeface="Arial"/>
                <a:cs typeface="Arial"/>
              </a:rPr>
              <a:t>Supabase</a:t>
            </a:r>
            <a:r>
              <a:rPr sz="1425" b="1" dirty="0">
                <a:solidFill>
                  <a:srgbClr val="5B5BD6"/>
                </a:solidFill>
                <a:latin typeface="Arial"/>
                <a:ea typeface="Arial"/>
                <a:cs typeface="Arial"/>
              </a:rPr>
              <a:t> PostgreSQL</a:t>
            </a:r>
          </a:p>
          <a:p>
            <a:pPr algn="ctr">
              <a:defRPr sz="1425" b="1">
                <a:solidFill>
                  <a:srgbClr val="5B5BD6"/>
                </a:solidFill>
                <a:latin typeface="Arial"/>
                <a:ea typeface="Arial"/>
                <a:cs typeface="Arial"/>
              </a:defRPr>
            </a:pPr>
            <a:r>
              <a:rPr sz="1425" b="1" dirty="0" err="1">
                <a:solidFill>
                  <a:srgbClr val="5B5BD6"/>
                </a:solidFill>
                <a:latin typeface="Arial"/>
                <a:ea typeface="Arial"/>
                <a:cs typeface="Arial"/>
              </a:rPr>
              <a:t>Destino</a:t>
            </a:r>
            <a:r>
              <a:rPr sz="1425" b="1" dirty="0">
                <a:solidFill>
                  <a:srgbClr val="5B5BD6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 dirty="0" err="1">
                <a:solidFill>
                  <a:srgbClr val="5B5BD6"/>
                </a:solidFill>
                <a:latin typeface="Arial"/>
                <a:ea typeface="Arial"/>
                <a:cs typeface="Arial"/>
              </a:rPr>
              <a:t>futuro</a:t>
            </a:r>
            <a:endParaRPr sz="1425" b="1" dirty="0">
              <a:solidFill>
                <a:srgbClr val="5B5BD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E8F10A6-E47A-4C50-BC7D-73E05C81A94F}"/>
              </a:ext>
            </a:extLst>
          </p:cNvPr>
          <p:cNvSpPr>
            <a:spLocks noGrp="1"/>
          </p:cNvSpPr>
          <p:nvPr/>
        </p:nvSpPr>
        <p:spPr>
          <a:xfrm>
            <a:off x="6572250" y="3988435"/>
            <a:ext cx="2000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n8n</a:t>
            </a:r>
          </a:p>
          <a:p>
            <a:pPr algn="ctr">
              <a:defRPr sz="1425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Orquestração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6C47CC8-05F3-4A6B-8DD0-579EA22E456D}"/>
              </a:ext>
            </a:extLst>
          </p:cNvPr>
          <p:cNvSpPr>
            <a:spLocks noGrp="1"/>
          </p:cNvSpPr>
          <p:nvPr/>
        </p:nvSpPr>
        <p:spPr>
          <a:xfrm>
            <a:off x="9353550" y="3988435"/>
            <a:ext cx="2000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4288">
            <a:solidFill>
              <a:srgbClr val="0097B2"/>
            </a:solidFill>
            <a:prstDash val="solid"/>
          </a:ln>
        </p:spPr>
        <p:txBody>
          <a:bodyPr wrap="square" anchor="ctr">
            <a:normAutofit/>
          </a:bodyPr>
          <a:lstStyle/>
          <a:p>
            <a:pPr algn="ctr">
              <a:defRPr sz="135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Google Calendar</a:t>
            </a:r>
          </a:p>
          <a:p>
            <a:pPr algn="ctr">
              <a:defRPr sz="135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Atendimentos e bloqueios</a:t>
            </a:r>
          </a:p>
        </p:txBody>
      </p:sp>
      <p:cxnSp>
        <p:nvCxnSpPr>
          <p:cNvPr id="28" name="Conector de Seta Reta 27"/>
          <p:cNvCxnSpPr>
            <a:stCxn id="4" idx="3"/>
            <a:endCxn id="5" idx="1"/>
          </p:cNvCxnSpPr>
          <p:nvPr/>
        </p:nvCxnSpPr>
        <p:spPr>
          <a:xfrm>
            <a:off x="2524125" y="3321685"/>
            <a:ext cx="762000" cy="0"/>
          </a:xfrm>
          <a:prstGeom prst="straightConnector1">
            <a:avLst/>
          </a:prstGeom>
          <a:ln w="28575">
            <a:solidFill>
              <a:srgbClr val="0097B2"/>
            </a:solidFill>
            <a:prstDash val="solid"/>
            <a:tailEnd type="triangle" w="sm" len="sm"/>
          </a:ln>
        </p:spPr>
      </p:cxnSp>
      <p:cxnSp>
        <p:nvCxnSpPr>
          <p:cNvPr id="29" name="Conector: Angulado 28"/>
          <p:cNvCxnSpPr>
            <a:stCxn id="5" idx="3"/>
            <a:endCxn id="6" idx="1"/>
          </p:cNvCxnSpPr>
          <p:nvPr/>
        </p:nvCxnSpPr>
        <p:spPr>
          <a:xfrm flipV="1">
            <a:off x="5619750" y="2264410"/>
            <a:ext cx="952500" cy="1057275"/>
          </a:xfrm>
          <a:prstGeom prst="bentConnector3">
            <a:avLst>
              <a:gd name="adj1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0" name="Conector de Seta Reta 29"/>
          <p:cNvCxnSpPr>
            <a:stCxn id="6" idx="3"/>
            <a:endCxn id="7" idx="1"/>
          </p:cNvCxnSpPr>
          <p:nvPr/>
        </p:nvCxnSpPr>
        <p:spPr>
          <a:xfrm>
            <a:off x="8572500" y="2264410"/>
            <a:ext cx="781050" cy="0"/>
          </a:xfrm>
          <a:prstGeom prst="straightConnector1">
            <a:avLst/>
          </a:prstGeom>
          <a:ln w="19050">
            <a:solidFill>
              <a:srgbClr val="5B5BD6"/>
            </a:solidFill>
            <a:prstDash val="solid"/>
            <a:tailEnd type="triangle" w="sm" len="sm"/>
          </a:ln>
        </p:spPr>
      </p:cxnSp>
      <p:cxnSp>
        <p:nvCxnSpPr>
          <p:cNvPr id="31" name="Conector: Angulado 30"/>
          <p:cNvCxnSpPr>
            <a:stCxn id="5" idx="3"/>
            <a:endCxn id="8" idx="1"/>
          </p:cNvCxnSpPr>
          <p:nvPr/>
        </p:nvCxnSpPr>
        <p:spPr>
          <a:xfrm>
            <a:off x="5619750" y="3321685"/>
            <a:ext cx="952500" cy="1085850"/>
          </a:xfrm>
          <a:prstGeom prst="bentConnector3">
            <a:avLst>
              <a:gd name="adj1" fmla="val 50000"/>
            </a:avLst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cxnSp>
        <p:nvCxnSpPr>
          <p:cNvPr id="32" name="Conector de Seta Reta 31"/>
          <p:cNvCxnSpPr>
            <a:stCxn id="8" idx="3"/>
            <a:endCxn id="9" idx="1"/>
          </p:cNvCxnSpPr>
          <p:nvPr/>
        </p:nvCxnSpPr>
        <p:spPr>
          <a:xfrm>
            <a:off x="8572500" y="4407535"/>
            <a:ext cx="781050" cy="0"/>
          </a:xfrm>
          <a:prstGeom prst="straightConnector1">
            <a:avLst/>
          </a:prstGeom>
          <a:ln w="19050">
            <a:solidFill>
              <a:srgbClr val="7A9399"/>
            </a:solidFill>
            <a:prstDash val="solid"/>
            <a:tailEnd type="triangle" w="sm" len="sm"/>
          </a:ln>
        </p:spPr>
      </p:cxnSp>
      <p:sp>
        <p:nvSpPr>
          <p:cNvPr id="15" name="Retângulo 14">
            <a:extLst>
              <a:ext uri="{FF2B5EF4-FFF2-40B4-BE49-F238E27FC236}">
                <a16:creationId xmlns:a16="http://schemas.microsoft.com/office/drawing/2014/main" id="{C4E80DB8-5CB4-4C89-9827-63A6AA990537}"/>
              </a:ext>
            </a:extLst>
          </p:cNvPr>
          <p:cNvSpPr>
            <a:spLocks noGrp="1"/>
          </p:cNvSpPr>
          <p:nvPr/>
        </p:nvSpPr>
        <p:spPr>
          <a:xfrm>
            <a:off x="782955" y="3864610"/>
            <a:ext cx="1482090" cy="4953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ctr">
              <a:defRPr sz="135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1350" b="1" dirty="0">
                <a:solidFill>
                  <a:srgbClr val="006578"/>
                </a:solidFill>
                <a:latin typeface="Arial"/>
                <a:ea typeface="Arial"/>
                <a:cs typeface="Arial"/>
              </a:rPr>
              <a:t>HTTPS + JSON + Bearer token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D04F973B-E35B-476D-AFBB-D55F027D1E53}"/>
              </a:ext>
            </a:extLst>
          </p:cNvPr>
          <p:cNvSpPr>
            <a:spLocks noGrp="1"/>
          </p:cNvSpPr>
          <p:nvPr/>
        </p:nvSpPr>
        <p:spPr>
          <a:xfrm>
            <a:off x="2381250" y="541464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ctr">
              <a:defRPr sz="1650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A API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valida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o token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em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todas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as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rotas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protegidas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,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aplica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o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escopo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da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clínica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e impede que o app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acesse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integrações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ou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credenciais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</a:t>
            </a:r>
            <a:r>
              <a:rPr sz="1650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diretamente</a:t>
            </a:r>
            <a:r>
              <a:rPr sz="1650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8342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6A09C2C6-02D1-474F-A322-63102CE38829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Arquitetura</a:t>
            </a: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de pastas do </a:t>
            </a:r>
            <a:r>
              <a:rPr sz="3000" b="1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aplicativo</a:t>
            </a:r>
            <a:endParaRPr sz="3000" b="1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09AD14-02B7-4B8A-B9D1-85C553BCF2D3}"/>
              </a:ext>
            </a:extLst>
          </p:cNvPr>
          <p:cNvSpPr>
            <a:spLocks noGrp="1"/>
          </p:cNvSpPr>
          <p:nvPr/>
        </p:nvSpPr>
        <p:spPr>
          <a:xfrm>
            <a:off x="628650" y="1141095"/>
            <a:ext cx="1047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425" b="0">
                <a:solidFill>
                  <a:srgbClr val="62717A"/>
                </a:solidFill>
                <a:latin typeface="Arial"/>
                <a:ea typeface="Arial"/>
                <a:cs typeface="Arial"/>
              </a:defRPr>
            </a:pPr>
            <a:r>
              <a:rPr sz="1425" b="0" dirty="0" err="1">
                <a:solidFill>
                  <a:srgbClr val="62717A"/>
                </a:solidFill>
                <a:latin typeface="Arial"/>
                <a:ea typeface="Arial"/>
                <a:cs typeface="Arial"/>
              </a:rPr>
              <a:t>Separação</a:t>
            </a:r>
            <a:r>
              <a:rPr sz="1425" b="0" dirty="0">
                <a:solidFill>
                  <a:srgbClr val="62717A"/>
                </a:solidFill>
                <a:latin typeface="Arial"/>
                <a:ea typeface="Arial"/>
                <a:cs typeface="Arial"/>
              </a:rPr>
              <a:t> entre </a:t>
            </a:r>
            <a:r>
              <a:rPr sz="1425" b="0" dirty="0" err="1">
                <a:solidFill>
                  <a:srgbClr val="62717A"/>
                </a:solidFill>
                <a:latin typeface="Arial"/>
                <a:ea typeface="Arial"/>
                <a:cs typeface="Arial"/>
              </a:rPr>
              <a:t>navegação</a:t>
            </a:r>
            <a:r>
              <a:rPr sz="1425" b="0" dirty="0">
                <a:solidFill>
                  <a:srgbClr val="62717A"/>
                </a:solidFill>
                <a:latin typeface="Arial"/>
                <a:ea typeface="Arial"/>
                <a:cs typeface="Arial"/>
              </a:rPr>
              <a:t>, </a:t>
            </a:r>
            <a:r>
              <a:rPr sz="1425" b="0" dirty="0" err="1">
                <a:solidFill>
                  <a:srgbClr val="62717A"/>
                </a:solidFill>
                <a:latin typeface="Arial"/>
                <a:ea typeface="Arial"/>
                <a:cs typeface="Arial"/>
              </a:rPr>
              <a:t>funcionalidades</a:t>
            </a:r>
            <a:r>
              <a:rPr sz="1425" b="0" dirty="0">
                <a:solidFill>
                  <a:srgbClr val="62717A"/>
                </a:solidFill>
                <a:latin typeface="Arial"/>
                <a:ea typeface="Arial"/>
                <a:cs typeface="Arial"/>
              </a:rPr>
              <a:t> e </a:t>
            </a:r>
            <a:r>
              <a:rPr sz="1425" b="0" dirty="0" err="1">
                <a:solidFill>
                  <a:srgbClr val="62717A"/>
                </a:solidFill>
                <a:latin typeface="Arial"/>
                <a:ea typeface="Arial"/>
                <a:cs typeface="Arial"/>
              </a:rPr>
              <a:t>infraestrutura</a:t>
            </a:r>
            <a:r>
              <a:rPr sz="1425" b="0" dirty="0">
                <a:solidFill>
                  <a:srgbClr val="62717A"/>
                </a:solidFill>
                <a:latin typeface="Arial"/>
                <a:ea typeface="Arial"/>
                <a:cs typeface="Arial"/>
              </a:rPr>
              <a:t> mobile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D260CE7-3623-4AA5-8E62-328C516889AC}"/>
              </a:ext>
            </a:extLst>
          </p:cNvPr>
          <p:cNvSpPr>
            <a:spLocks noGrp="1"/>
          </p:cNvSpPr>
          <p:nvPr/>
        </p:nvSpPr>
        <p:spPr>
          <a:xfrm>
            <a:off x="647700" y="1594485"/>
            <a:ext cx="4762500" cy="4667250"/>
          </a:xfrm>
          <a:prstGeom prst="roundRect">
            <a:avLst>
              <a:gd name="adj" fmla="val 2449"/>
            </a:avLst>
          </a:prstGeom>
          <a:solidFill>
            <a:srgbClr val="F1FAFB"/>
          </a:solidFill>
          <a:ln w="9525">
            <a:solidFill>
              <a:srgbClr val="D9E2E7"/>
            </a:solidFill>
            <a:prstDash val="solid"/>
          </a:ln>
        </p:spPr>
        <p:txBody>
          <a:bodyPr wrap="square" lIns="209550" tIns="171450" rIns="152400" bIns="152400" anchor="t">
            <a:noAutofit/>
          </a:bodyPr>
          <a:lstStyle/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mobile/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├─ app/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(public)/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login.tsx</a:t>
            </a:r>
            <a:endParaRPr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└─ (private)/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├─ _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layout.tsx</a:t>
            </a:r>
            <a:endParaRPr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├─ 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index.tsx</a:t>
            </a:r>
            <a:endParaRPr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├─ agenda/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├─ 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receitas.tsx</a:t>
            </a:r>
            <a:endParaRPr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├─ 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procedimentos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   └─ 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perfil.tsx</a:t>
            </a:r>
            <a:endParaRPr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├─ 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src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components/  </a:t>
            </a:r>
            <a:endParaRPr lang="pt-BR"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f</a:t>
            </a:r>
            <a:r>
              <a:rPr sz="1425" b="0" dirty="0" err="1">
                <a:solidFill>
                  <a:srgbClr val="131B2E"/>
                </a:solidFill>
                <a:latin typeface="Arial"/>
                <a:ea typeface="Arial"/>
                <a:cs typeface="Arial"/>
              </a:rPr>
              <a:t>eatures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services/    </a:t>
            </a:r>
            <a:endParaRPr lang="pt-BR"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hooks/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theme/       </a:t>
            </a:r>
            <a:endParaRPr lang="pt-BR"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├─ 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storage/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</a:t>
            </a:r>
            <a:r>
              <a:rPr lang="pt-BR"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├─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types/       </a:t>
            </a:r>
            <a:endParaRPr lang="pt-BR" sz="1425" b="0" dirty="0">
              <a:solidFill>
                <a:srgbClr val="131B2E"/>
              </a:solidFill>
              <a:latin typeface="Arial"/>
              <a:ea typeface="Arial"/>
              <a:cs typeface="Arial"/>
            </a:endParaRP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lang="pt-BR"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│  └─ </a:t>
            </a: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utils/</a:t>
            </a:r>
          </a:p>
          <a:p>
            <a:pPr algn="l">
              <a:defRPr sz="1425" b="0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425" b="0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└─ assets/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C924564-2119-4F44-B347-7BB849D3B911}"/>
              </a:ext>
            </a:extLst>
          </p:cNvPr>
          <p:cNvSpPr>
            <a:spLocks noGrp="1"/>
          </p:cNvSpPr>
          <p:nvPr/>
        </p:nvSpPr>
        <p:spPr>
          <a:xfrm>
            <a:off x="5953125" y="1642110"/>
            <a:ext cx="4000500" cy="4000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2100" b="1">
                <a:solidFill>
                  <a:srgbClr val="00657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6578"/>
                </a:solidFill>
                <a:latin typeface="Arial"/>
                <a:ea typeface="Arial"/>
                <a:cs typeface="Arial"/>
              </a:rPr>
              <a:t>Responsabilidades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B6205-C100-4BA8-B530-000BB4DAA362}"/>
              </a:ext>
            </a:extLst>
          </p:cNvPr>
          <p:cNvSpPr>
            <a:spLocks noGrp="1"/>
          </p:cNvSpPr>
          <p:nvPr/>
        </p:nvSpPr>
        <p:spPr>
          <a:xfrm>
            <a:off x="5953125" y="230886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650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097"/>
                </a:solidFill>
                <a:latin typeface="Arial"/>
                <a:ea typeface="Arial"/>
                <a:cs typeface="Arial"/>
              </a:rPr>
              <a:t>app/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33E70C3-AA9C-436A-9A0E-BD5D5337E2B4}"/>
              </a:ext>
            </a:extLst>
          </p:cNvPr>
          <p:cNvSpPr>
            <a:spLocks noGrp="1"/>
          </p:cNvSpPr>
          <p:nvPr/>
        </p:nvSpPr>
        <p:spPr>
          <a:xfrm>
            <a:off x="7334250" y="228981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Rotas públicas, área autenticada, layouts e abas do Expo Router.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B4ADC3A-479E-45DF-A22D-2E0FADB1CDD6}"/>
              </a:ext>
            </a:extLst>
          </p:cNvPr>
          <p:cNvSpPr>
            <a:spLocks noGrp="1"/>
          </p:cNvSpPr>
          <p:nvPr/>
        </p:nvSpPr>
        <p:spPr>
          <a:xfrm>
            <a:off x="5953125" y="3118485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650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097"/>
                </a:solidFill>
                <a:latin typeface="Arial"/>
                <a:ea typeface="Arial"/>
                <a:cs typeface="Arial"/>
              </a:rPr>
              <a:t>features/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916AE0-4E98-4BB8-9D3F-630614712F4F}"/>
              </a:ext>
            </a:extLst>
          </p:cNvPr>
          <p:cNvSpPr>
            <a:spLocks noGrp="1"/>
          </p:cNvSpPr>
          <p:nvPr/>
        </p:nvSpPr>
        <p:spPr>
          <a:xfrm>
            <a:off x="7334250" y="3089910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Autenticação, agenda, receitas e procedimentos organizados por domínio.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5DB2D67-9DC4-4026-ADD4-55DE6F9A2BCF}"/>
              </a:ext>
            </a:extLst>
          </p:cNvPr>
          <p:cNvSpPr>
            <a:spLocks noGrp="1"/>
          </p:cNvSpPr>
          <p:nvPr/>
        </p:nvSpPr>
        <p:spPr>
          <a:xfrm>
            <a:off x="5953125" y="3928110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650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097"/>
                </a:solidFill>
                <a:latin typeface="Arial"/>
                <a:ea typeface="Arial"/>
                <a:cs typeface="Arial"/>
              </a:rPr>
              <a:t>services/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B3BF006-07CD-45FB-ACF8-45264AF9131D}"/>
              </a:ext>
            </a:extLst>
          </p:cNvPr>
          <p:cNvSpPr>
            <a:spLocks noGrp="1"/>
          </p:cNvSpPr>
          <p:nvPr/>
        </p:nvSpPr>
        <p:spPr>
          <a:xfrm>
            <a:off x="7334250" y="3899535"/>
            <a:ext cx="4000500" cy="5524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Cliente HTTP, serialização e contratos públicos da API.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81AC741-DEF9-49B2-A397-115F22EB4B1E}"/>
              </a:ext>
            </a:extLst>
          </p:cNvPr>
          <p:cNvSpPr>
            <a:spLocks noGrp="1"/>
          </p:cNvSpPr>
          <p:nvPr/>
        </p:nvSpPr>
        <p:spPr>
          <a:xfrm>
            <a:off x="5953125" y="4910455"/>
            <a:ext cx="1285875" cy="3048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650" b="1">
                <a:solidFill>
                  <a:srgbClr val="008097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8097"/>
                </a:solidFill>
                <a:latin typeface="Arial"/>
                <a:ea typeface="Arial"/>
                <a:cs typeface="Arial"/>
              </a:rPr>
              <a:t>storage/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68689D2-F608-4427-B4BD-F2DF2565E51C}"/>
              </a:ext>
            </a:extLst>
          </p:cNvPr>
          <p:cNvSpPr>
            <a:spLocks noGrp="1"/>
          </p:cNvSpPr>
          <p:nvPr/>
        </p:nvSpPr>
        <p:spPr>
          <a:xfrm>
            <a:off x="7334250" y="4709160"/>
            <a:ext cx="4000500" cy="79756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Acesso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isolado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ao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SecureStore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e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ao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token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tratado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apenas </a:t>
            </a:r>
            <a:r>
              <a:rPr sz="1500" b="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como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credencial (</a:t>
            </a:r>
            <a:r>
              <a:rPr lang="pt-BR" sz="150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o </a:t>
            </a:r>
            <a:r>
              <a:rPr lang="pt-BR" sz="150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payload</a:t>
            </a:r>
            <a:r>
              <a:rPr lang="pt-BR" sz="150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/ </a:t>
            </a:r>
            <a:r>
              <a:rPr lang="pt-BR" sz="1500" dirty="0" err="1">
                <a:solidFill>
                  <a:srgbClr val="3D494C"/>
                </a:solidFill>
                <a:latin typeface="Arial"/>
                <a:ea typeface="Arial"/>
                <a:cs typeface="Arial"/>
              </a:rPr>
              <a:t>claims</a:t>
            </a:r>
            <a:r>
              <a:rPr lang="pt-BR" sz="150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 </a:t>
            </a:r>
            <a:r>
              <a:rPr lang="pt-BR"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não serão usadas pelo app)</a:t>
            </a:r>
            <a:r>
              <a:rPr sz="1500" b="0" dirty="0">
                <a:solidFill>
                  <a:srgbClr val="3D494C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F368ED0-F7BC-4DE8-BBF8-6A9779D38482}"/>
              </a:ext>
            </a:extLst>
          </p:cNvPr>
          <p:cNvSpPr>
            <a:spLocks noGrp="1"/>
          </p:cNvSpPr>
          <p:nvPr/>
        </p:nvSpPr>
        <p:spPr>
          <a:xfrm>
            <a:off x="5953125" y="564261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1B2E"/>
                </a:solidFill>
                <a:latin typeface="Arial"/>
                <a:ea typeface="Arial"/>
                <a:cs typeface="Arial"/>
              </a:rPr>
              <a:t>Princípio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7D63D1A-DEE6-4F06-B5FD-AB3B5FFF204B}"/>
              </a:ext>
            </a:extLst>
          </p:cNvPr>
          <p:cNvSpPr>
            <a:spLocks noGrp="1"/>
          </p:cNvSpPr>
          <p:nvPr/>
        </p:nvSpPr>
        <p:spPr>
          <a:xfrm>
            <a:off x="7096125" y="5594985"/>
            <a:ext cx="4191000" cy="4953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1500" b="0">
                <a:solidFill>
                  <a:srgbClr val="3D494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D494C"/>
                </a:solidFill>
                <a:latin typeface="Arial"/>
                <a:ea typeface="Arial"/>
                <a:cs typeface="Arial"/>
              </a:rPr>
              <a:t>Telas não conhecem banco, n8n ou URLs privadas de webhook.</a:t>
            </a:r>
          </a:p>
        </p:txBody>
      </p:sp>
    </p:spTree>
    <p:extLst>
      <p:ext uri="{BB962C8B-B14F-4D97-AF65-F5344CB8AC3E}">
        <p14:creationId xmlns:p14="http://schemas.microsoft.com/office/powerpoint/2010/main" val="296214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79B2A6AE-547B-4D71-8EC0-DF8B4EB3C35B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10382250" cy="533400"/>
          </a:xfrm>
          <a:prstGeom prst="rect">
            <a:avLst/>
          </a:prstGeom>
          <a:noFill/>
          <a:ln w="0">
            <a:noFill/>
          </a:ln>
        </p:spPr>
        <p:txBody>
          <a:bodyPr wrap="square" anchor="t">
            <a:noAutofit/>
          </a:bodyPr>
          <a:lstStyle/>
          <a:p>
            <a:pPr algn="l">
              <a:defRPr sz="3000" b="1">
                <a:solidFill>
                  <a:srgbClr val="131B2E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Backlog </a:t>
            </a:r>
            <a:r>
              <a:rPr lang="pt-BR"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de Tarefas</a:t>
            </a:r>
            <a:r>
              <a:rPr sz="3000" b="1" dirty="0">
                <a:solidFill>
                  <a:srgbClr val="131B2E"/>
                </a:solidFill>
                <a:latin typeface="Arial"/>
                <a:ea typeface="Arial"/>
                <a:cs typeface="Arial"/>
              </a:rPr>
              <a:t> do MVP</a:t>
            </a:r>
          </a:p>
        </p:txBody>
      </p:sp>
      <p:graphicFrame>
        <p:nvGraphicFramePr>
          <p:cNvPr id="10" name="Tabela 9"/>
          <p:cNvGraphicFramePr/>
          <p:nvPr/>
        </p:nvGraphicFramePr>
        <p:xfrm>
          <a:off x="857250" y="1333500"/>
          <a:ext cx="10477500" cy="4810124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28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ID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story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Prioridade</a:t>
                      </a:r>
                    </a:p>
                  </a:txBody>
                  <a:tcPr marL="95250" marR="95250" marT="57150" marB="57150" anchor="ctr">
                    <a:solidFill>
                      <a:srgbClr val="006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US01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Entrar no aplicativo e acessar meus dados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US02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Visualizar minha agenda e organizar o dia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US03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Abrir um atendimento e consultar seus detalhes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US04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Bloquear ou liberar um horário da minha agenda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US05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Consultar um resumo de receitas do período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US06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Selecionar os procedimentos que ofereço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US07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Editar preço, duração e disponibilidade dos meus serviços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US08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Consultar meu perfil e sair da conta com segurança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5250" marR="95250" marT="57150" marB="57150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US09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Receber mensagens claras em carregamentos, vazios e erros</a:t>
                      </a:r>
                    </a:p>
                  </a:txBody>
                  <a:tcPr marL="95250" marR="95250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B45309"/>
                          </a:solidFill>
                          <a:latin typeface="Arial"/>
                          <a:ea typeface="Arial"/>
                          <a:cs typeface="Arial"/>
                        </a:rPr>
                        <a:t>P1</a:t>
                      </a:r>
                    </a:p>
                  </a:txBody>
                  <a:tcPr marL="95250" marR="95250" marT="57150" marB="57150" anchor="ctr"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7284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US10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131B2E"/>
                          </a:solidFill>
                          <a:latin typeface="Arial"/>
                          <a:ea typeface="Arial"/>
                          <a:cs typeface="Arial"/>
                        </a:rPr>
                        <a:t>Executar um fluxo integrado e estável na apresentação</a:t>
                      </a:r>
                    </a:p>
                  </a:txBody>
                  <a:tcPr marL="95250" marR="95250" marT="57150" marB="57150" anchor="ctr">
                    <a:solidFill>
                      <a:srgbClr val="F1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66534"/>
                          </a:solidFill>
                          <a:latin typeface="Arial"/>
                          <a:ea typeface="Arial"/>
                          <a:cs typeface="Arial"/>
                        </a:rPr>
                        <a:t>P0</a:t>
                      </a:r>
                    </a:p>
                  </a:txBody>
                  <a:tcPr marL="95250" marR="95250" marT="57150" marB="57150" anchor="ctr"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54064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1718</Words>
  <Application>Microsoft Office PowerPoint</Application>
  <DocSecurity>0</DocSecurity>
  <PresentationFormat>Widescreen</PresentationFormat>
  <Paragraphs>253</Paragraphs>
  <Slides>14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Marcos Daniel Da Silva Lima</cp:lastModifiedBy>
  <cp:revision>13</cp:revision>
  <dcterms:created xsi:type="dcterms:W3CDTF">2026-09-20T17:07:42Z</dcterms:created>
  <dcterms:modified xsi:type="dcterms:W3CDTF">2026-09-30T10:35:17Z</dcterms:modified>
</cp:coreProperties>
</file>